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398" r:id="rId3"/>
    <p:sldId id="412" r:id="rId4"/>
    <p:sldId id="273" r:id="rId5"/>
    <p:sldId id="272" r:id="rId6"/>
    <p:sldId id="276" r:id="rId7"/>
    <p:sldId id="259" r:id="rId8"/>
    <p:sldId id="278" r:id="rId9"/>
    <p:sldId id="284" r:id="rId10"/>
    <p:sldId id="279" r:id="rId11"/>
    <p:sldId id="270" r:id="rId12"/>
    <p:sldId id="260" r:id="rId13"/>
    <p:sldId id="257" r:id="rId14"/>
    <p:sldId id="258" r:id="rId15"/>
  </p:sldIdLst>
  <p:sldSz cx="9144000" cy="6858000" type="screen4x3"/>
  <p:notesSz cx="6858000" cy="9144000"/>
  <p:defaultTextStyle>
    <a:defPPr>
      <a:defRPr lang="es-E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487" autoAdjust="0"/>
  </p:normalViewPr>
  <p:slideViewPr>
    <p:cSldViewPr>
      <p:cViewPr varScale="1">
        <p:scale>
          <a:sx n="99" d="100"/>
          <a:sy n="99" d="100"/>
        </p:scale>
        <p:origin x="5187" y="51"/>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Interest</c:v>
                </c:pt>
              </c:strCache>
            </c:strRef>
          </c:tx>
          <c:invertIfNegative val="0"/>
          <c:cat>
            <c:strRef>
              <c:f>Sheet1!$A$2:$A$3</c:f>
              <c:strCache>
                <c:ptCount val="2"/>
                <c:pt idx="0">
                  <c:v>Collect data</c:v>
                </c:pt>
                <c:pt idx="1">
                  <c:v>Analyse data</c:v>
                </c:pt>
              </c:strCache>
            </c:strRef>
          </c:cat>
          <c:val>
            <c:numRef>
              <c:f>Sheet1!$B$2:$B$3</c:f>
              <c:numCache>
                <c:formatCode>General</c:formatCode>
                <c:ptCount val="2"/>
                <c:pt idx="0">
                  <c:v>0</c:v>
                </c:pt>
                <c:pt idx="1">
                  <c:v>0</c:v>
                </c:pt>
              </c:numCache>
            </c:numRef>
          </c:val>
          <c:extLst>
            <c:ext xmlns:c16="http://schemas.microsoft.com/office/drawing/2014/chart" uri="{C3380CC4-5D6E-409C-BE32-E72D297353CC}">
              <c16:uniqueId val="{00000000-7AD1-4F0E-B875-C5EB029EEB9A}"/>
            </c:ext>
          </c:extLst>
        </c:ser>
        <c:dLbls>
          <c:showLegendKey val="0"/>
          <c:showVal val="0"/>
          <c:showCatName val="0"/>
          <c:showSerName val="0"/>
          <c:showPercent val="0"/>
          <c:showBubbleSize val="0"/>
        </c:dLbls>
        <c:gapWidth val="150"/>
        <c:axId val="36387328"/>
        <c:axId val="34742272"/>
      </c:barChart>
      <c:catAx>
        <c:axId val="36387328"/>
        <c:scaling>
          <c:orientation val="minMax"/>
        </c:scaling>
        <c:delete val="0"/>
        <c:axPos val="b"/>
        <c:numFmt formatCode="General" sourceLinked="0"/>
        <c:majorTickMark val="out"/>
        <c:minorTickMark val="none"/>
        <c:tickLblPos val="nextTo"/>
        <c:crossAx val="34742272"/>
        <c:crosses val="autoZero"/>
        <c:auto val="1"/>
        <c:lblAlgn val="ctr"/>
        <c:lblOffset val="100"/>
        <c:noMultiLvlLbl val="0"/>
      </c:catAx>
      <c:valAx>
        <c:axId val="34742272"/>
        <c:scaling>
          <c:orientation val="minMax"/>
          <c:max val="100"/>
        </c:scaling>
        <c:delete val="0"/>
        <c:axPos val="l"/>
        <c:majorGridlines/>
        <c:numFmt formatCode="General" sourceLinked="1"/>
        <c:majorTickMark val="out"/>
        <c:minorTickMark val="none"/>
        <c:tickLblPos val="nextTo"/>
        <c:crossAx val="36387328"/>
        <c:crosses val="autoZero"/>
        <c:crossBetween val="between"/>
        <c:majorUnit val="2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Interest</c:v>
                </c:pt>
              </c:strCache>
            </c:strRef>
          </c:tx>
          <c:invertIfNegative val="0"/>
          <c:cat>
            <c:strRef>
              <c:f>Sheet1!$A$2:$A$3</c:f>
              <c:strCache>
                <c:ptCount val="2"/>
                <c:pt idx="0">
                  <c:v>Collect data</c:v>
                </c:pt>
                <c:pt idx="1">
                  <c:v>Analyse data</c:v>
                </c:pt>
              </c:strCache>
            </c:strRef>
          </c:cat>
          <c:val>
            <c:numRef>
              <c:f>Sheet1!$B$2:$B$3</c:f>
              <c:numCache>
                <c:formatCode>General</c:formatCode>
                <c:ptCount val="2"/>
                <c:pt idx="0">
                  <c:v>100</c:v>
                </c:pt>
                <c:pt idx="1">
                  <c:v>0</c:v>
                </c:pt>
              </c:numCache>
            </c:numRef>
          </c:val>
          <c:extLst>
            <c:ext xmlns:c16="http://schemas.microsoft.com/office/drawing/2014/chart" uri="{C3380CC4-5D6E-409C-BE32-E72D297353CC}">
              <c16:uniqueId val="{00000000-17F6-4388-A9CA-8C627D6F688F}"/>
            </c:ext>
          </c:extLst>
        </c:ser>
        <c:dLbls>
          <c:showLegendKey val="0"/>
          <c:showVal val="0"/>
          <c:showCatName val="0"/>
          <c:showSerName val="0"/>
          <c:showPercent val="0"/>
          <c:showBubbleSize val="0"/>
        </c:dLbls>
        <c:gapWidth val="150"/>
        <c:axId val="36387840"/>
        <c:axId val="34907840"/>
      </c:barChart>
      <c:catAx>
        <c:axId val="36387840"/>
        <c:scaling>
          <c:orientation val="minMax"/>
        </c:scaling>
        <c:delete val="0"/>
        <c:axPos val="b"/>
        <c:numFmt formatCode="General" sourceLinked="0"/>
        <c:majorTickMark val="out"/>
        <c:minorTickMark val="none"/>
        <c:tickLblPos val="nextTo"/>
        <c:crossAx val="34907840"/>
        <c:crosses val="autoZero"/>
        <c:auto val="1"/>
        <c:lblAlgn val="ctr"/>
        <c:lblOffset val="100"/>
        <c:noMultiLvlLbl val="0"/>
      </c:catAx>
      <c:valAx>
        <c:axId val="34907840"/>
        <c:scaling>
          <c:orientation val="minMax"/>
          <c:max val="100"/>
        </c:scaling>
        <c:delete val="0"/>
        <c:axPos val="l"/>
        <c:majorGridlines/>
        <c:numFmt formatCode="General" sourceLinked="1"/>
        <c:majorTickMark val="out"/>
        <c:minorTickMark val="none"/>
        <c:tickLblPos val="nextTo"/>
        <c:crossAx val="36387840"/>
        <c:crosses val="autoZero"/>
        <c:crossBetween val="between"/>
        <c:majorUnit val="2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Interest</c:v>
                </c:pt>
              </c:strCache>
            </c:strRef>
          </c:tx>
          <c:invertIfNegative val="0"/>
          <c:cat>
            <c:strRef>
              <c:f>Sheet1!$A$2:$A$3</c:f>
              <c:strCache>
                <c:ptCount val="2"/>
                <c:pt idx="0">
                  <c:v>Collect data</c:v>
                </c:pt>
                <c:pt idx="1">
                  <c:v>Analyse data</c:v>
                </c:pt>
              </c:strCache>
            </c:strRef>
          </c:cat>
          <c:val>
            <c:numRef>
              <c:f>Sheet1!$B$2:$B$3</c:f>
              <c:numCache>
                <c:formatCode>General</c:formatCode>
                <c:ptCount val="2"/>
                <c:pt idx="0">
                  <c:v>100</c:v>
                </c:pt>
                <c:pt idx="1">
                  <c:v>1</c:v>
                </c:pt>
              </c:numCache>
            </c:numRef>
          </c:val>
          <c:extLst>
            <c:ext xmlns:c16="http://schemas.microsoft.com/office/drawing/2014/chart" uri="{C3380CC4-5D6E-409C-BE32-E72D297353CC}">
              <c16:uniqueId val="{00000000-B022-4F74-B785-13DC1F3C041F}"/>
            </c:ext>
          </c:extLst>
        </c:ser>
        <c:dLbls>
          <c:showLegendKey val="0"/>
          <c:showVal val="0"/>
          <c:showCatName val="0"/>
          <c:showSerName val="0"/>
          <c:showPercent val="0"/>
          <c:showBubbleSize val="0"/>
        </c:dLbls>
        <c:gapWidth val="150"/>
        <c:axId val="38624768"/>
        <c:axId val="34748608"/>
      </c:barChart>
      <c:catAx>
        <c:axId val="38624768"/>
        <c:scaling>
          <c:orientation val="minMax"/>
        </c:scaling>
        <c:delete val="0"/>
        <c:axPos val="b"/>
        <c:numFmt formatCode="General" sourceLinked="0"/>
        <c:majorTickMark val="out"/>
        <c:minorTickMark val="none"/>
        <c:tickLblPos val="nextTo"/>
        <c:crossAx val="34748608"/>
        <c:crosses val="autoZero"/>
        <c:auto val="1"/>
        <c:lblAlgn val="ctr"/>
        <c:lblOffset val="100"/>
        <c:noMultiLvlLbl val="0"/>
      </c:catAx>
      <c:valAx>
        <c:axId val="34748608"/>
        <c:scaling>
          <c:orientation val="minMax"/>
          <c:max val="100"/>
        </c:scaling>
        <c:delete val="0"/>
        <c:axPos val="l"/>
        <c:majorGridlines/>
        <c:numFmt formatCode="General" sourceLinked="1"/>
        <c:majorTickMark val="out"/>
        <c:minorTickMark val="none"/>
        <c:tickLblPos val="nextTo"/>
        <c:crossAx val="38624768"/>
        <c:crosses val="autoZero"/>
        <c:crossBetween val="between"/>
        <c:majorUnit val="20"/>
      </c:valAx>
    </c:plotArea>
    <c:plotVisOnly val="1"/>
    <c:dispBlanksAs val="gap"/>
    <c:showDLblsOverMax val="0"/>
  </c:chart>
  <c:txPr>
    <a:bodyPr/>
    <a:lstStyle/>
    <a:p>
      <a:pPr>
        <a:defRPr sz="1800"/>
      </a:pPr>
      <a:endParaRPr lang="en-US"/>
    </a:p>
  </c:txPr>
  <c:externalData r:id="rId1">
    <c:autoUpdate val="0"/>
  </c:externalData>
</c:chartSpace>
</file>

<file path=ppt/drawings/_rels/vmlDrawing1.v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image" Target="../media/image27.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smtClean="0"/>
            </a:lvl1pPr>
          </a:lstStyle>
          <a:p>
            <a:pPr>
              <a:defRPr/>
            </a:pPr>
            <a:endParaRPr lang="es-ES"/>
          </a:p>
        </p:txBody>
      </p:sp>
      <p:sp>
        <p:nvSpPr>
          <p:cNvPr id="3075"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es-ES"/>
          </a:p>
        </p:txBody>
      </p:sp>
      <p:sp>
        <p:nvSpPr>
          <p:cNvPr id="1638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s-ES" noProof="0"/>
              <a:t>Click to edit Master text styles</a:t>
            </a:r>
          </a:p>
          <a:p>
            <a:pPr lvl="1"/>
            <a:r>
              <a:rPr lang="es-ES" noProof="0"/>
              <a:t>Second level</a:t>
            </a:r>
          </a:p>
          <a:p>
            <a:pPr lvl="2"/>
            <a:r>
              <a:rPr lang="es-ES" noProof="0"/>
              <a:t>Third level</a:t>
            </a:r>
          </a:p>
          <a:p>
            <a:pPr lvl="3"/>
            <a:r>
              <a:rPr lang="es-ES" noProof="0"/>
              <a:t>Fourth level</a:t>
            </a:r>
          </a:p>
          <a:p>
            <a:pPr lvl="4"/>
            <a:r>
              <a:rPr lang="es-ES" noProof="0"/>
              <a:t>Fifth level</a:t>
            </a:r>
          </a:p>
        </p:txBody>
      </p:sp>
      <p:sp>
        <p:nvSpPr>
          <p:cNvPr id="3078"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smtClean="0"/>
            </a:lvl1pPr>
          </a:lstStyle>
          <a:p>
            <a:pPr>
              <a:defRPr/>
            </a:pPr>
            <a:endParaRPr lang="es-ES"/>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smtClean="0"/>
            </a:lvl1pPr>
          </a:lstStyle>
          <a:p>
            <a:pPr>
              <a:defRPr/>
            </a:pPr>
            <a:fld id="{90C4350B-9E7F-4D98-85A2-EA3A17F3AC16}" type="slidenum">
              <a:rPr lang="es-ES"/>
              <a:pPr>
                <a:defRPr/>
              </a:pPr>
              <a:t>‹#›</a:t>
            </a:fld>
            <a:endParaRPr lang="es-ES"/>
          </a:p>
        </p:txBody>
      </p:sp>
    </p:spTree>
    <p:extLst>
      <p:ext uri="{BB962C8B-B14F-4D97-AF65-F5344CB8AC3E}">
        <p14:creationId xmlns:p14="http://schemas.microsoft.com/office/powerpoint/2010/main" val="292349032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F823DE28-D5FB-4629-B12A-F497111655D0}" type="slidenum">
              <a:rPr lang="es-ES"/>
              <a:pPr eaLnBrk="1" hangingPunct="1"/>
              <a:t>1</a:t>
            </a:fld>
            <a:endParaRPr lang="es-ES"/>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p:spPr>
        <p:txBody>
          <a:bodyPr/>
          <a:lstStyle/>
          <a:p>
            <a:pPr eaLnBrk="1" hangingPunct="1"/>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40963" name="Rectangle 3"/>
          <p:cNvSpPr>
            <a:spLocks noGrp="1"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r>
              <a:rPr lang="en-US"/>
              <a:t>Biodiversity is being loss everywhere. But beffore discribing that pattern we need to know what is at stake here.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ChangeArrowheads="1" noTextEdit="1"/>
          </p:cNvSpPr>
          <p:nvPr>
            <p:ph type="sldImg"/>
          </p:nvPr>
        </p:nvSpPr>
        <p:spPr>
          <a:ln/>
        </p:spPr>
      </p:sp>
      <p:sp>
        <p:nvSpPr>
          <p:cNvPr id="27651" name="Rectangle 3"/>
          <p:cNvSpPr>
            <a:spLocks noGrp="1" noChangeArrowheads="1"/>
          </p:cNvSpPr>
          <p:nvPr>
            <p:ph type="body" idx="1"/>
          </p:nvPr>
        </p:nvSpPr>
        <p:spPr>
          <a:noFill/>
        </p:spPr>
        <p:txBody>
          <a:bodyPr/>
          <a:lstStyle/>
          <a:p>
            <a:pPr eaLnBrk="1" hangingPunct="1"/>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dirty="0" err="1"/>
              <a:t>5:19min</a:t>
            </a:r>
            <a:r>
              <a:rPr lang="en-US" baseline="0" dirty="0"/>
              <a:t> we end up with systems that cannot return to their original states even if the stressors are removed.</a:t>
            </a:r>
          </a:p>
          <a:p>
            <a:pPr eaLnBrk="1" hangingPunct="1">
              <a:spcBef>
                <a:spcPct val="0"/>
              </a:spcBef>
            </a:pPr>
            <a:r>
              <a:rPr lang="en-US" baseline="0" dirty="0" err="1"/>
              <a:t>5:45min</a:t>
            </a:r>
            <a:r>
              <a:rPr lang="en-US" baseline="0" dirty="0"/>
              <a:t> Even now in the first world the thing is turning scary. For instance in the US 50 million people are suffering hunger or at risk of it. In Countries from </a:t>
            </a:r>
            <a:r>
              <a:rPr lang="en-US" baseline="0" dirty="0" err="1"/>
              <a:t>africa</a:t>
            </a:r>
            <a:r>
              <a:rPr lang="en-US" baseline="0" dirty="0"/>
              <a:t> and </a:t>
            </a:r>
            <a:r>
              <a:rPr lang="en-US" baseline="0" dirty="0" err="1"/>
              <a:t>asia</a:t>
            </a:r>
            <a:r>
              <a:rPr lang="en-US" baseline="0" dirty="0"/>
              <a:t> and the </a:t>
            </a:r>
            <a:r>
              <a:rPr lang="en-US" baseline="0" dirty="0" err="1"/>
              <a:t>southpacific</a:t>
            </a:r>
            <a:r>
              <a:rPr lang="en-US" baseline="0" dirty="0"/>
              <a:t> the situation is truly scary. </a:t>
            </a:r>
          </a:p>
          <a:p>
            <a:pPr eaLnBrk="1" hangingPunct="1">
              <a:spcBef>
                <a:spcPct val="0"/>
              </a:spcBef>
            </a:pPr>
            <a:r>
              <a:rPr lang="en-US" baseline="0" dirty="0"/>
              <a:t>6:30 min today about 1 billion people, 20% of the world’s human population live near environments that are so deteriorated that basic food supply to humanity is not ensured anymore. The situation is even more critical when you consider future scenarios of clean water supply.</a:t>
            </a:r>
          </a:p>
          <a:p>
            <a:pPr eaLnBrk="1" hangingPunct="1">
              <a:spcBef>
                <a:spcPct val="0"/>
              </a:spcBef>
            </a:pPr>
            <a:r>
              <a:rPr lang="en-US" baseline="0" dirty="0"/>
              <a:t>7:05 min Those </a:t>
            </a:r>
            <a:r>
              <a:rPr lang="en-US" baseline="0" dirty="0" err="1"/>
              <a:t>statisitics</a:t>
            </a:r>
            <a:r>
              <a:rPr lang="en-US" baseline="0" dirty="0"/>
              <a:t> are just sad…how, we, as a developed and smart’ species are letting this to happen.</a:t>
            </a:r>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D5B3DB17-4DB9-4965-92C1-7D8B33327275}" type="slidenum">
              <a:rPr lang="es-ES"/>
              <a:pPr eaLnBrk="1" hangingPunct="1"/>
              <a:t>7</a:t>
            </a:fld>
            <a:endParaRPr lang="es-ES"/>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7" name="Text Box 1"/>
          <p:cNvSpPr txBox="1">
            <a:spLocks noChangeArrowheads="1"/>
          </p:cNvSpPr>
          <p:nvPr/>
        </p:nvSpPr>
        <p:spPr bwMode="auto">
          <a:xfrm>
            <a:off x="1400736" y="914977"/>
            <a:ext cx="4055129" cy="3134591"/>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2058" tIns="41029" rIns="82058" bIns="41029" anchor="ctr"/>
          <a:lstStyle/>
          <a:p>
            <a:endParaRPr lang="en-CA"/>
          </a:p>
        </p:txBody>
      </p:sp>
      <p:sp>
        <p:nvSpPr>
          <p:cNvPr id="4098" name="Text Box 2"/>
          <p:cNvSpPr txBox="1">
            <a:spLocks noGrp="1" noChangeArrowheads="1"/>
          </p:cNvSpPr>
          <p:nvPr>
            <p:ph type="body"/>
          </p:nvPr>
        </p:nvSpPr>
        <p:spPr bwMode="auto">
          <a:xfrm>
            <a:off x="1046350" y="4352637"/>
            <a:ext cx="4770904" cy="347806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85725" indent="-85725">
              <a:tabLst>
                <a:tab pos="723900" algn="l"/>
                <a:tab pos="1447800" algn="l"/>
                <a:tab pos="2171700" algn="l"/>
                <a:tab pos="2895600" algn="l"/>
                <a:tab pos="3619500" algn="l"/>
                <a:tab pos="4343400" algn="l"/>
                <a:tab pos="5067300" algn="l"/>
              </a:tabLst>
              <a:defRPr sz="1200">
                <a:solidFill>
                  <a:srgbClr val="000000"/>
                </a:solidFill>
                <a:latin typeface="Times New Roman" pitchFamily="16" charset="0"/>
              </a:defRPr>
            </a:lvl1pPr>
            <a:lvl2pPr>
              <a:tabLst>
                <a:tab pos="723900" algn="l"/>
                <a:tab pos="1447800" algn="l"/>
                <a:tab pos="2171700" algn="l"/>
                <a:tab pos="2895600" algn="l"/>
                <a:tab pos="3619500" algn="l"/>
                <a:tab pos="4343400" algn="l"/>
                <a:tab pos="5067300" algn="l"/>
              </a:tabLst>
              <a:defRPr sz="1200">
                <a:solidFill>
                  <a:srgbClr val="000000"/>
                </a:solidFill>
                <a:latin typeface="Times New Roman" pitchFamily="16" charset="0"/>
              </a:defRPr>
            </a:lvl2pPr>
            <a:lvl3pPr>
              <a:tabLst>
                <a:tab pos="723900" algn="l"/>
                <a:tab pos="1447800" algn="l"/>
                <a:tab pos="2171700" algn="l"/>
                <a:tab pos="2895600" algn="l"/>
                <a:tab pos="3619500" algn="l"/>
                <a:tab pos="4343400" algn="l"/>
                <a:tab pos="5067300" algn="l"/>
              </a:tabLst>
              <a:defRPr sz="1200">
                <a:solidFill>
                  <a:srgbClr val="000000"/>
                </a:solidFill>
                <a:latin typeface="Times New Roman" pitchFamily="16" charset="0"/>
              </a:defRPr>
            </a:lvl3pPr>
            <a:lvl4pPr>
              <a:tabLst>
                <a:tab pos="723900" algn="l"/>
                <a:tab pos="1447800" algn="l"/>
                <a:tab pos="2171700" algn="l"/>
                <a:tab pos="2895600" algn="l"/>
                <a:tab pos="3619500" algn="l"/>
                <a:tab pos="4343400" algn="l"/>
                <a:tab pos="5067300" algn="l"/>
              </a:tabLst>
              <a:defRPr sz="1200">
                <a:solidFill>
                  <a:srgbClr val="000000"/>
                </a:solidFill>
                <a:latin typeface="Times New Roman" pitchFamily="16" charset="0"/>
              </a:defRPr>
            </a:lvl4pPr>
            <a:lvl5pPr>
              <a:tabLst>
                <a:tab pos="723900" algn="l"/>
                <a:tab pos="1447800" algn="l"/>
                <a:tab pos="2171700" algn="l"/>
                <a:tab pos="2895600" algn="l"/>
                <a:tab pos="3619500" algn="l"/>
                <a:tab pos="4343400" algn="l"/>
                <a:tab pos="5067300" algn="l"/>
              </a:tabLst>
              <a:defRPr sz="1200">
                <a:solidFill>
                  <a:srgbClr val="000000"/>
                </a:solidFill>
                <a:latin typeface="Times New Roman" pitchFamily="16" charset="0"/>
              </a:defRPr>
            </a:lvl5pPr>
            <a:lvl6pPr marL="2514600" indent="-228600" defTabSz="457200" eaLnBrk="0" fontAlgn="base" hangingPunct="0">
              <a:spcBef>
                <a:spcPct val="30000"/>
              </a:spcBef>
              <a:spcAft>
                <a:spcPct val="0"/>
              </a:spcAft>
              <a:buClr>
                <a:srgbClr val="000000"/>
              </a:buClr>
              <a:buSzPct val="100000"/>
              <a:buFont typeface="Times New Roman" pitchFamily="16" charset="0"/>
              <a:tabLst>
                <a:tab pos="723900" algn="l"/>
                <a:tab pos="1447800" algn="l"/>
                <a:tab pos="2171700" algn="l"/>
                <a:tab pos="2895600" algn="l"/>
                <a:tab pos="3619500" algn="l"/>
                <a:tab pos="4343400" algn="l"/>
                <a:tab pos="5067300" algn="l"/>
              </a:tabLst>
              <a:defRPr sz="1200">
                <a:solidFill>
                  <a:srgbClr val="000000"/>
                </a:solidFill>
                <a:latin typeface="Times New Roman" pitchFamily="16" charset="0"/>
              </a:defRPr>
            </a:lvl6pPr>
            <a:lvl7pPr marL="2971800" indent="-228600" defTabSz="457200" eaLnBrk="0" fontAlgn="base" hangingPunct="0">
              <a:spcBef>
                <a:spcPct val="30000"/>
              </a:spcBef>
              <a:spcAft>
                <a:spcPct val="0"/>
              </a:spcAft>
              <a:buClr>
                <a:srgbClr val="000000"/>
              </a:buClr>
              <a:buSzPct val="100000"/>
              <a:buFont typeface="Times New Roman" pitchFamily="16" charset="0"/>
              <a:tabLst>
                <a:tab pos="723900" algn="l"/>
                <a:tab pos="1447800" algn="l"/>
                <a:tab pos="2171700" algn="l"/>
                <a:tab pos="2895600" algn="l"/>
                <a:tab pos="3619500" algn="l"/>
                <a:tab pos="4343400" algn="l"/>
                <a:tab pos="5067300" algn="l"/>
              </a:tabLst>
              <a:defRPr sz="1200">
                <a:solidFill>
                  <a:srgbClr val="000000"/>
                </a:solidFill>
                <a:latin typeface="Times New Roman" pitchFamily="16" charset="0"/>
              </a:defRPr>
            </a:lvl7pPr>
            <a:lvl8pPr marL="3429000" indent="-228600" defTabSz="457200" eaLnBrk="0" fontAlgn="base" hangingPunct="0">
              <a:spcBef>
                <a:spcPct val="30000"/>
              </a:spcBef>
              <a:spcAft>
                <a:spcPct val="0"/>
              </a:spcAft>
              <a:buClr>
                <a:srgbClr val="000000"/>
              </a:buClr>
              <a:buSzPct val="100000"/>
              <a:buFont typeface="Times New Roman" pitchFamily="16" charset="0"/>
              <a:tabLst>
                <a:tab pos="723900" algn="l"/>
                <a:tab pos="1447800" algn="l"/>
                <a:tab pos="2171700" algn="l"/>
                <a:tab pos="2895600" algn="l"/>
                <a:tab pos="3619500" algn="l"/>
                <a:tab pos="4343400" algn="l"/>
                <a:tab pos="5067300" algn="l"/>
              </a:tabLst>
              <a:defRPr sz="1200">
                <a:solidFill>
                  <a:srgbClr val="000000"/>
                </a:solidFill>
                <a:latin typeface="Times New Roman" pitchFamily="16" charset="0"/>
              </a:defRPr>
            </a:lvl8pPr>
            <a:lvl9pPr marL="3886200" indent="-228600" defTabSz="457200" eaLnBrk="0" fontAlgn="base" hangingPunct="0">
              <a:spcBef>
                <a:spcPct val="30000"/>
              </a:spcBef>
              <a:spcAft>
                <a:spcPct val="0"/>
              </a:spcAft>
              <a:buClr>
                <a:srgbClr val="000000"/>
              </a:buClr>
              <a:buSzPct val="100000"/>
              <a:buFont typeface="Times New Roman" pitchFamily="16" charset="0"/>
              <a:tabLst>
                <a:tab pos="723900" algn="l"/>
                <a:tab pos="1447800" algn="l"/>
                <a:tab pos="2171700" algn="l"/>
                <a:tab pos="2895600" algn="l"/>
                <a:tab pos="3619500" algn="l"/>
                <a:tab pos="4343400" algn="l"/>
                <a:tab pos="5067300" algn="l"/>
              </a:tabLst>
              <a:defRPr sz="1200">
                <a:solidFill>
                  <a:srgbClr val="000000"/>
                </a:solidFill>
                <a:latin typeface="Times New Roman" pitchFamily="16" charset="0"/>
              </a:defRPr>
            </a:lvl9pPr>
          </a:lstStyle>
          <a:p>
            <a:pPr eaLnBrk="1">
              <a:lnSpc>
                <a:spcPct val="93000"/>
              </a:lnSpc>
              <a:spcBef>
                <a:spcPct val="0"/>
              </a:spcBef>
              <a:buSzPct val="45000"/>
              <a:buFont typeface="Wingdings" charset="2"/>
              <a:buNone/>
            </a:pPr>
            <a:r>
              <a:rPr lang="en-GB">
                <a:latin typeface="Arial" charset="0"/>
                <a:ea typeface="msgothic" charset="0"/>
                <a:cs typeface="msgothic" charset="0"/>
              </a:rPr>
              <a:t>Depiction of numeric data from a marine reserve study by Behrens and Lafferty (45) in a nonnumeric format for general audiences. In the Anacapa Island marine reserve in California, abundant lobsters keep their urchin prey in check, allowing kelp forests to flourish. Reprinted with permission from The Science of Marine Reserves, published by the Partnership for Interdisciplinary Studies of Coastal Oceans.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685817" indent="-263776">
              <a:defRPr>
                <a:solidFill>
                  <a:schemeClr val="tx1"/>
                </a:solidFill>
                <a:latin typeface="Calibri" pitchFamily="34" charset="0"/>
              </a:defRPr>
            </a:lvl2pPr>
            <a:lvl3pPr marL="1055103" indent="-211021">
              <a:defRPr>
                <a:solidFill>
                  <a:schemeClr val="tx1"/>
                </a:solidFill>
                <a:latin typeface="Calibri" pitchFamily="34" charset="0"/>
              </a:defRPr>
            </a:lvl3pPr>
            <a:lvl4pPr marL="1477145" indent="-211021">
              <a:defRPr>
                <a:solidFill>
                  <a:schemeClr val="tx1"/>
                </a:solidFill>
                <a:latin typeface="Calibri" pitchFamily="34" charset="0"/>
              </a:defRPr>
            </a:lvl4pPr>
            <a:lvl5pPr marL="1899186" indent="-211021">
              <a:defRPr>
                <a:solidFill>
                  <a:schemeClr val="tx1"/>
                </a:solidFill>
                <a:latin typeface="Calibri" pitchFamily="34" charset="0"/>
              </a:defRPr>
            </a:lvl5pPr>
            <a:lvl6pPr marL="2321227" indent="-211021" fontAlgn="base">
              <a:spcBef>
                <a:spcPct val="0"/>
              </a:spcBef>
              <a:spcAft>
                <a:spcPct val="0"/>
              </a:spcAft>
              <a:defRPr>
                <a:solidFill>
                  <a:schemeClr val="tx1"/>
                </a:solidFill>
                <a:latin typeface="Calibri" pitchFamily="34" charset="0"/>
              </a:defRPr>
            </a:lvl6pPr>
            <a:lvl7pPr marL="2743269" indent="-211021" fontAlgn="base">
              <a:spcBef>
                <a:spcPct val="0"/>
              </a:spcBef>
              <a:spcAft>
                <a:spcPct val="0"/>
              </a:spcAft>
              <a:defRPr>
                <a:solidFill>
                  <a:schemeClr val="tx1"/>
                </a:solidFill>
                <a:latin typeface="Calibri" pitchFamily="34" charset="0"/>
              </a:defRPr>
            </a:lvl7pPr>
            <a:lvl8pPr marL="3165310" indent="-211021" fontAlgn="base">
              <a:spcBef>
                <a:spcPct val="0"/>
              </a:spcBef>
              <a:spcAft>
                <a:spcPct val="0"/>
              </a:spcAft>
              <a:defRPr>
                <a:solidFill>
                  <a:schemeClr val="tx1"/>
                </a:solidFill>
                <a:latin typeface="Calibri" pitchFamily="34" charset="0"/>
              </a:defRPr>
            </a:lvl8pPr>
            <a:lvl9pPr marL="3587351" indent="-211021"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14B78143-1D30-4E4B-9B6F-F50AEA89DBC0}" type="slidenum">
              <a:rPr lang="en-US" smtClean="0"/>
              <a:pPr fontAlgn="base">
                <a:spcBef>
                  <a:spcPct val="0"/>
                </a:spcBef>
                <a:spcAft>
                  <a:spcPct val="0"/>
                </a:spcAft>
                <a:defRPr/>
              </a:pPr>
              <a:t>9</a:t>
            </a:fld>
            <a:endParaRPr lang="en-US"/>
          </a:p>
        </p:txBody>
      </p:sp>
      <p:sp>
        <p:nvSpPr>
          <p:cNvPr id="7065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6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many people will like to go around the world?. Visiting all countries and their ecosystems, the Great barrier reef, Indonesia,</a:t>
            </a:r>
            <a:r>
              <a:rPr lang="en-US" baseline="0" dirty="0"/>
              <a:t> </a:t>
            </a:r>
            <a:r>
              <a:rPr lang="en-US" baseline="0" dirty="0" err="1"/>
              <a:t>Chagos</a:t>
            </a:r>
            <a:r>
              <a:rPr lang="en-US" baseline="0" dirty="0"/>
              <a:t>, uh, the blue hole in </a:t>
            </a:r>
            <a:r>
              <a:rPr lang="en-US" baseline="0" dirty="0" err="1"/>
              <a:t>belize</a:t>
            </a:r>
            <a:r>
              <a:rPr lang="en-US" baseline="0" dirty="0"/>
              <a:t>? I sort of anticipate that response, so here you see the balance.</a:t>
            </a:r>
          </a:p>
          <a:p>
            <a:r>
              <a:rPr lang="en-US" baseline="0" dirty="0"/>
              <a:t>Now, how many of you would like to sit down in front of a desk 12 to 18 hours a day every day…..</a:t>
            </a:r>
            <a:r>
              <a:rPr lang="en-US" baseline="0" dirty="0" err="1"/>
              <a:t>Stearing</a:t>
            </a:r>
            <a:r>
              <a:rPr lang="en-US" baseline="0" dirty="0"/>
              <a:t> to a computer screen so long that your ass start getting flat, or if you have a </a:t>
            </a:r>
            <a:r>
              <a:rPr lang="en-US" baseline="0" dirty="0" err="1"/>
              <a:t>confi</a:t>
            </a:r>
            <a:r>
              <a:rPr lang="en-US" baseline="0" dirty="0"/>
              <a:t> chair your ass start getting shape on it. So long that over time you loose your eye sight. And after all that effort, you get hammer because most people think that what you have done all that time is trash?. Well I anticipated that result as well. </a:t>
            </a:r>
          </a:p>
          <a:p>
            <a:endParaRPr lang="en-US" baseline="0" dirty="0"/>
          </a:p>
          <a:p>
            <a:r>
              <a:rPr lang="en-US" baseline="0" dirty="0"/>
              <a:t>And this simple quantification of our interest is reflected in our advance of large scale ecology.</a:t>
            </a:r>
            <a:endParaRPr lang="en-CA" dirty="0"/>
          </a:p>
        </p:txBody>
      </p:sp>
      <p:sp>
        <p:nvSpPr>
          <p:cNvPr id="4" name="Slide Number Placeholder 3"/>
          <p:cNvSpPr>
            <a:spLocks noGrp="1"/>
          </p:cNvSpPr>
          <p:nvPr>
            <p:ph type="sldNum" sz="quarter" idx="10"/>
          </p:nvPr>
        </p:nvSpPr>
        <p:spPr/>
        <p:txBody>
          <a:bodyPr/>
          <a:lstStyle/>
          <a:p>
            <a:pPr>
              <a:defRPr/>
            </a:pPr>
            <a:fld id="{90C4350B-9E7F-4D98-85A2-EA3A17F3AC16}" type="slidenum">
              <a:rPr lang="es-ES" smtClean="0"/>
              <a:pPr>
                <a:defRPr/>
              </a:pPr>
              <a:t>11</a:t>
            </a:fld>
            <a:endParaRPr lang="es-ES"/>
          </a:p>
        </p:txBody>
      </p:sp>
    </p:spTree>
    <p:extLst>
      <p:ext uri="{BB962C8B-B14F-4D97-AF65-F5344CB8AC3E}">
        <p14:creationId xmlns:p14="http://schemas.microsoft.com/office/powerpoint/2010/main" val="29119469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FD239003-A439-48BA-9936-AB2435C3A820}" type="slidenum">
              <a:rPr lang="es-ES"/>
              <a:pPr eaLnBrk="1" hangingPunct="1"/>
              <a:t>12</a:t>
            </a:fld>
            <a:endParaRPr lang="es-ES"/>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D0327594-B849-4D94-825C-E5E27937B473}" type="slidenum">
              <a:rPr lang="es-ES"/>
              <a:pPr eaLnBrk="1" hangingPunct="1"/>
              <a:t>13</a:t>
            </a:fld>
            <a:endParaRPr lang="es-ES"/>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3B40E93F-D02C-4114-8553-0ECD27F06C2C}" type="slidenum">
              <a:rPr lang="es-ES"/>
              <a:pPr eaLnBrk="1" hangingPunct="1"/>
              <a:t>14</a:t>
            </a:fld>
            <a:endParaRPr lang="es-ES"/>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CA"/>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CA"/>
          </a:p>
        </p:txBody>
      </p:sp>
      <p:sp>
        <p:nvSpPr>
          <p:cNvPr id="4" name="Rectangle 4"/>
          <p:cNvSpPr>
            <a:spLocks noGrp="1" noChangeArrowheads="1"/>
          </p:cNvSpPr>
          <p:nvPr>
            <p:ph type="dt" sz="half" idx="10"/>
          </p:nvPr>
        </p:nvSpPr>
        <p:spPr>
          <a:ln/>
        </p:spPr>
        <p:txBody>
          <a:bodyPr/>
          <a:lstStyle>
            <a:lvl1pPr>
              <a:defRPr/>
            </a:lvl1pPr>
          </a:lstStyle>
          <a:p>
            <a:pPr>
              <a:defRPr/>
            </a:pPr>
            <a:endParaRPr lang="es-ES"/>
          </a:p>
        </p:txBody>
      </p:sp>
      <p:sp>
        <p:nvSpPr>
          <p:cNvPr id="5" name="Rectangle 5"/>
          <p:cNvSpPr>
            <a:spLocks noGrp="1" noChangeArrowheads="1"/>
          </p:cNvSpPr>
          <p:nvPr>
            <p:ph type="ftr" sz="quarter" idx="11"/>
          </p:nvPr>
        </p:nvSpPr>
        <p:spPr>
          <a:ln/>
        </p:spPr>
        <p:txBody>
          <a:bodyPr/>
          <a:lstStyle>
            <a:lvl1pPr>
              <a:defRPr/>
            </a:lvl1pPr>
          </a:lstStyle>
          <a:p>
            <a:pPr>
              <a:defRPr/>
            </a:pPr>
            <a:endParaRPr lang="es-ES"/>
          </a:p>
        </p:txBody>
      </p:sp>
      <p:sp>
        <p:nvSpPr>
          <p:cNvPr id="6" name="Rectangle 6"/>
          <p:cNvSpPr>
            <a:spLocks noGrp="1" noChangeArrowheads="1"/>
          </p:cNvSpPr>
          <p:nvPr>
            <p:ph type="sldNum" sz="quarter" idx="12"/>
          </p:nvPr>
        </p:nvSpPr>
        <p:spPr>
          <a:ln/>
        </p:spPr>
        <p:txBody>
          <a:bodyPr/>
          <a:lstStyle>
            <a:lvl1pPr>
              <a:defRPr/>
            </a:lvl1pPr>
          </a:lstStyle>
          <a:p>
            <a:pPr>
              <a:defRPr/>
            </a:pPr>
            <a:fld id="{05CFFAD5-48F2-494D-B676-5A3D1103B9EF}" type="slidenum">
              <a:rPr lang="es-ES"/>
              <a:pPr>
                <a:defRPr/>
              </a:pPr>
              <a:t>‹#›</a:t>
            </a:fld>
            <a:endParaRPr lang="es-ES"/>
          </a:p>
        </p:txBody>
      </p:sp>
    </p:spTree>
    <p:extLst>
      <p:ext uri="{BB962C8B-B14F-4D97-AF65-F5344CB8AC3E}">
        <p14:creationId xmlns:p14="http://schemas.microsoft.com/office/powerpoint/2010/main" val="5291153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Rectangle 4"/>
          <p:cNvSpPr>
            <a:spLocks noGrp="1" noChangeArrowheads="1"/>
          </p:cNvSpPr>
          <p:nvPr>
            <p:ph type="dt" sz="half" idx="10"/>
          </p:nvPr>
        </p:nvSpPr>
        <p:spPr>
          <a:ln/>
        </p:spPr>
        <p:txBody>
          <a:bodyPr/>
          <a:lstStyle>
            <a:lvl1pPr>
              <a:defRPr/>
            </a:lvl1pPr>
          </a:lstStyle>
          <a:p>
            <a:pPr>
              <a:defRPr/>
            </a:pPr>
            <a:endParaRPr lang="es-ES"/>
          </a:p>
        </p:txBody>
      </p:sp>
      <p:sp>
        <p:nvSpPr>
          <p:cNvPr id="5" name="Rectangle 5"/>
          <p:cNvSpPr>
            <a:spLocks noGrp="1" noChangeArrowheads="1"/>
          </p:cNvSpPr>
          <p:nvPr>
            <p:ph type="ftr" sz="quarter" idx="11"/>
          </p:nvPr>
        </p:nvSpPr>
        <p:spPr>
          <a:ln/>
        </p:spPr>
        <p:txBody>
          <a:bodyPr/>
          <a:lstStyle>
            <a:lvl1pPr>
              <a:defRPr/>
            </a:lvl1pPr>
          </a:lstStyle>
          <a:p>
            <a:pPr>
              <a:defRPr/>
            </a:pPr>
            <a:endParaRPr lang="es-ES"/>
          </a:p>
        </p:txBody>
      </p:sp>
      <p:sp>
        <p:nvSpPr>
          <p:cNvPr id="6" name="Rectangle 6"/>
          <p:cNvSpPr>
            <a:spLocks noGrp="1" noChangeArrowheads="1"/>
          </p:cNvSpPr>
          <p:nvPr>
            <p:ph type="sldNum" sz="quarter" idx="12"/>
          </p:nvPr>
        </p:nvSpPr>
        <p:spPr>
          <a:ln/>
        </p:spPr>
        <p:txBody>
          <a:bodyPr/>
          <a:lstStyle>
            <a:lvl1pPr>
              <a:defRPr/>
            </a:lvl1pPr>
          </a:lstStyle>
          <a:p>
            <a:pPr>
              <a:defRPr/>
            </a:pPr>
            <a:fld id="{A06DAFDD-C2A9-4CCE-A595-A7A44C422846}" type="slidenum">
              <a:rPr lang="es-ES"/>
              <a:pPr>
                <a:defRPr/>
              </a:pPr>
              <a:t>‹#›</a:t>
            </a:fld>
            <a:endParaRPr lang="es-ES"/>
          </a:p>
        </p:txBody>
      </p:sp>
    </p:spTree>
    <p:extLst>
      <p:ext uri="{BB962C8B-B14F-4D97-AF65-F5344CB8AC3E}">
        <p14:creationId xmlns:p14="http://schemas.microsoft.com/office/powerpoint/2010/main" val="16822961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CA"/>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s-ES"/>
          </a:p>
        </p:txBody>
      </p:sp>
      <p:sp>
        <p:nvSpPr>
          <p:cNvPr id="5" name="Rectangle 5"/>
          <p:cNvSpPr>
            <a:spLocks noGrp="1" noChangeArrowheads="1"/>
          </p:cNvSpPr>
          <p:nvPr>
            <p:ph type="ftr" sz="quarter" idx="11"/>
          </p:nvPr>
        </p:nvSpPr>
        <p:spPr>
          <a:ln/>
        </p:spPr>
        <p:txBody>
          <a:bodyPr/>
          <a:lstStyle>
            <a:lvl1pPr>
              <a:defRPr/>
            </a:lvl1pPr>
          </a:lstStyle>
          <a:p>
            <a:pPr>
              <a:defRPr/>
            </a:pPr>
            <a:endParaRPr lang="es-ES"/>
          </a:p>
        </p:txBody>
      </p:sp>
      <p:sp>
        <p:nvSpPr>
          <p:cNvPr id="6" name="Rectangle 6"/>
          <p:cNvSpPr>
            <a:spLocks noGrp="1" noChangeArrowheads="1"/>
          </p:cNvSpPr>
          <p:nvPr>
            <p:ph type="sldNum" sz="quarter" idx="12"/>
          </p:nvPr>
        </p:nvSpPr>
        <p:spPr>
          <a:ln/>
        </p:spPr>
        <p:txBody>
          <a:bodyPr/>
          <a:lstStyle>
            <a:lvl1pPr>
              <a:defRPr/>
            </a:lvl1pPr>
          </a:lstStyle>
          <a:p>
            <a:pPr>
              <a:defRPr/>
            </a:pPr>
            <a:fld id="{F613189B-AB63-409B-AF3B-B045DF97F6F7}" type="slidenum">
              <a:rPr lang="es-ES"/>
              <a:pPr>
                <a:defRPr/>
              </a:pPr>
              <a:t>‹#›</a:t>
            </a:fld>
            <a:endParaRPr lang="es-ES"/>
          </a:p>
        </p:txBody>
      </p:sp>
    </p:spTree>
    <p:extLst>
      <p:ext uri="{BB962C8B-B14F-4D97-AF65-F5344CB8AC3E}">
        <p14:creationId xmlns:p14="http://schemas.microsoft.com/office/powerpoint/2010/main" val="41232105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Rectangle 4"/>
          <p:cNvSpPr>
            <a:spLocks noGrp="1" noChangeArrowheads="1"/>
          </p:cNvSpPr>
          <p:nvPr>
            <p:ph type="dt" sz="half" idx="10"/>
          </p:nvPr>
        </p:nvSpPr>
        <p:spPr>
          <a:ln/>
        </p:spPr>
        <p:txBody>
          <a:bodyPr/>
          <a:lstStyle>
            <a:lvl1pPr>
              <a:defRPr/>
            </a:lvl1pPr>
          </a:lstStyle>
          <a:p>
            <a:pPr>
              <a:defRPr/>
            </a:pPr>
            <a:endParaRPr lang="es-ES"/>
          </a:p>
        </p:txBody>
      </p:sp>
      <p:sp>
        <p:nvSpPr>
          <p:cNvPr id="6" name="Rectangle 5"/>
          <p:cNvSpPr>
            <a:spLocks noGrp="1" noChangeArrowheads="1"/>
          </p:cNvSpPr>
          <p:nvPr>
            <p:ph type="ftr" sz="quarter" idx="11"/>
          </p:nvPr>
        </p:nvSpPr>
        <p:spPr>
          <a:ln/>
        </p:spPr>
        <p:txBody>
          <a:bodyPr/>
          <a:lstStyle>
            <a:lvl1pPr>
              <a:defRPr/>
            </a:lvl1pPr>
          </a:lstStyle>
          <a:p>
            <a:pPr>
              <a:defRPr/>
            </a:pPr>
            <a:endParaRPr lang="es-ES"/>
          </a:p>
        </p:txBody>
      </p:sp>
      <p:sp>
        <p:nvSpPr>
          <p:cNvPr id="7" name="Rectangle 6"/>
          <p:cNvSpPr>
            <a:spLocks noGrp="1" noChangeArrowheads="1"/>
          </p:cNvSpPr>
          <p:nvPr>
            <p:ph type="sldNum" sz="quarter" idx="12"/>
          </p:nvPr>
        </p:nvSpPr>
        <p:spPr>
          <a:ln/>
        </p:spPr>
        <p:txBody>
          <a:bodyPr/>
          <a:lstStyle>
            <a:lvl1pPr>
              <a:defRPr/>
            </a:lvl1pPr>
          </a:lstStyle>
          <a:p>
            <a:pPr>
              <a:defRPr/>
            </a:pPr>
            <a:fld id="{AF7ACE28-7295-41BD-8B99-1290C058B9D9}" type="slidenum">
              <a:rPr lang="es-ES"/>
              <a:pPr>
                <a:defRPr/>
              </a:pPr>
              <a:t>‹#›</a:t>
            </a:fld>
            <a:endParaRPr lang="es-ES"/>
          </a:p>
        </p:txBody>
      </p:sp>
    </p:spTree>
    <p:extLst>
      <p:ext uri="{BB962C8B-B14F-4D97-AF65-F5344CB8AC3E}">
        <p14:creationId xmlns:p14="http://schemas.microsoft.com/office/powerpoint/2010/main" val="19122015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CA"/>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Rectangle 4"/>
          <p:cNvSpPr>
            <a:spLocks noGrp="1" noChangeArrowheads="1"/>
          </p:cNvSpPr>
          <p:nvPr>
            <p:ph type="dt" sz="half" idx="10"/>
          </p:nvPr>
        </p:nvSpPr>
        <p:spPr>
          <a:ln/>
        </p:spPr>
        <p:txBody>
          <a:bodyPr/>
          <a:lstStyle>
            <a:lvl1pPr>
              <a:defRPr/>
            </a:lvl1pPr>
          </a:lstStyle>
          <a:p>
            <a:pPr>
              <a:defRPr/>
            </a:pPr>
            <a:endParaRPr lang="es-ES"/>
          </a:p>
        </p:txBody>
      </p:sp>
      <p:sp>
        <p:nvSpPr>
          <p:cNvPr id="8" name="Rectangle 5"/>
          <p:cNvSpPr>
            <a:spLocks noGrp="1" noChangeArrowheads="1"/>
          </p:cNvSpPr>
          <p:nvPr>
            <p:ph type="ftr" sz="quarter" idx="11"/>
          </p:nvPr>
        </p:nvSpPr>
        <p:spPr>
          <a:ln/>
        </p:spPr>
        <p:txBody>
          <a:bodyPr/>
          <a:lstStyle>
            <a:lvl1pPr>
              <a:defRPr/>
            </a:lvl1pPr>
          </a:lstStyle>
          <a:p>
            <a:pPr>
              <a:defRPr/>
            </a:pPr>
            <a:endParaRPr lang="es-ES"/>
          </a:p>
        </p:txBody>
      </p:sp>
      <p:sp>
        <p:nvSpPr>
          <p:cNvPr id="9" name="Rectangle 6"/>
          <p:cNvSpPr>
            <a:spLocks noGrp="1" noChangeArrowheads="1"/>
          </p:cNvSpPr>
          <p:nvPr>
            <p:ph type="sldNum" sz="quarter" idx="12"/>
          </p:nvPr>
        </p:nvSpPr>
        <p:spPr>
          <a:ln/>
        </p:spPr>
        <p:txBody>
          <a:bodyPr/>
          <a:lstStyle>
            <a:lvl1pPr>
              <a:defRPr/>
            </a:lvl1pPr>
          </a:lstStyle>
          <a:p>
            <a:pPr>
              <a:defRPr/>
            </a:pPr>
            <a:fld id="{B8B7415B-0B38-4E1E-BA81-3135BCBFB54B}" type="slidenum">
              <a:rPr lang="es-ES"/>
              <a:pPr>
                <a:defRPr/>
              </a:pPr>
              <a:t>‹#›</a:t>
            </a:fld>
            <a:endParaRPr lang="es-ES"/>
          </a:p>
        </p:txBody>
      </p:sp>
    </p:spTree>
    <p:extLst>
      <p:ext uri="{BB962C8B-B14F-4D97-AF65-F5344CB8AC3E}">
        <p14:creationId xmlns:p14="http://schemas.microsoft.com/office/powerpoint/2010/main" val="1846415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Rectangle 4"/>
          <p:cNvSpPr>
            <a:spLocks noGrp="1" noChangeArrowheads="1"/>
          </p:cNvSpPr>
          <p:nvPr>
            <p:ph type="dt" sz="half" idx="10"/>
          </p:nvPr>
        </p:nvSpPr>
        <p:spPr>
          <a:ln/>
        </p:spPr>
        <p:txBody>
          <a:bodyPr/>
          <a:lstStyle>
            <a:lvl1pPr>
              <a:defRPr/>
            </a:lvl1pPr>
          </a:lstStyle>
          <a:p>
            <a:pPr>
              <a:defRPr/>
            </a:pPr>
            <a:endParaRPr lang="es-ES"/>
          </a:p>
        </p:txBody>
      </p:sp>
      <p:sp>
        <p:nvSpPr>
          <p:cNvPr id="4" name="Rectangle 5"/>
          <p:cNvSpPr>
            <a:spLocks noGrp="1" noChangeArrowheads="1"/>
          </p:cNvSpPr>
          <p:nvPr>
            <p:ph type="ftr" sz="quarter" idx="11"/>
          </p:nvPr>
        </p:nvSpPr>
        <p:spPr>
          <a:ln/>
        </p:spPr>
        <p:txBody>
          <a:bodyPr/>
          <a:lstStyle>
            <a:lvl1pPr>
              <a:defRPr/>
            </a:lvl1pPr>
          </a:lstStyle>
          <a:p>
            <a:pPr>
              <a:defRPr/>
            </a:pPr>
            <a:endParaRPr lang="es-ES"/>
          </a:p>
        </p:txBody>
      </p:sp>
      <p:sp>
        <p:nvSpPr>
          <p:cNvPr id="5" name="Rectangle 6"/>
          <p:cNvSpPr>
            <a:spLocks noGrp="1" noChangeArrowheads="1"/>
          </p:cNvSpPr>
          <p:nvPr>
            <p:ph type="sldNum" sz="quarter" idx="12"/>
          </p:nvPr>
        </p:nvSpPr>
        <p:spPr>
          <a:ln/>
        </p:spPr>
        <p:txBody>
          <a:bodyPr/>
          <a:lstStyle>
            <a:lvl1pPr>
              <a:defRPr/>
            </a:lvl1pPr>
          </a:lstStyle>
          <a:p>
            <a:pPr>
              <a:defRPr/>
            </a:pPr>
            <a:fld id="{5FBFFBE1-DE51-4C2E-88FE-78E373DADE04}" type="slidenum">
              <a:rPr lang="es-ES"/>
              <a:pPr>
                <a:defRPr/>
              </a:pPr>
              <a:t>‹#›</a:t>
            </a:fld>
            <a:endParaRPr lang="es-ES"/>
          </a:p>
        </p:txBody>
      </p:sp>
    </p:spTree>
    <p:extLst>
      <p:ext uri="{BB962C8B-B14F-4D97-AF65-F5344CB8AC3E}">
        <p14:creationId xmlns:p14="http://schemas.microsoft.com/office/powerpoint/2010/main" val="26131756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s-ES"/>
          </a:p>
        </p:txBody>
      </p:sp>
      <p:sp>
        <p:nvSpPr>
          <p:cNvPr id="3" name="Rectangle 5"/>
          <p:cNvSpPr>
            <a:spLocks noGrp="1" noChangeArrowheads="1"/>
          </p:cNvSpPr>
          <p:nvPr>
            <p:ph type="ftr" sz="quarter" idx="11"/>
          </p:nvPr>
        </p:nvSpPr>
        <p:spPr>
          <a:ln/>
        </p:spPr>
        <p:txBody>
          <a:bodyPr/>
          <a:lstStyle>
            <a:lvl1pPr>
              <a:defRPr/>
            </a:lvl1pPr>
          </a:lstStyle>
          <a:p>
            <a:pPr>
              <a:defRPr/>
            </a:pPr>
            <a:endParaRPr lang="es-ES"/>
          </a:p>
        </p:txBody>
      </p:sp>
      <p:sp>
        <p:nvSpPr>
          <p:cNvPr id="4" name="Rectangle 6"/>
          <p:cNvSpPr>
            <a:spLocks noGrp="1" noChangeArrowheads="1"/>
          </p:cNvSpPr>
          <p:nvPr>
            <p:ph type="sldNum" sz="quarter" idx="12"/>
          </p:nvPr>
        </p:nvSpPr>
        <p:spPr>
          <a:ln/>
        </p:spPr>
        <p:txBody>
          <a:bodyPr/>
          <a:lstStyle>
            <a:lvl1pPr>
              <a:defRPr/>
            </a:lvl1pPr>
          </a:lstStyle>
          <a:p>
            <a:pPr>
              <a:defRPr/>
            </a:pPr>
            <a:fld id="{46B73347-D3E7-4C6C-B8D4-8C6216CB9069}" type="slidenum">
              <a:rPr lang="es-ES"/>
              <a:pPr>
                <a:defRPr/>
              </a:pPr>
              <a:t>‹#›</a:t>
            </a:fld>
            <a:endParaRPr lang="es-ES"/>
          </a:p>
        </p:txBody>
      </p:sp>
    </p:spTree>
    <p:extLst>
      <p:ext uri="{BB962C8B-B14F-4D97-AF65-F5344CB8AC3E}">
        <p14:creationId xmlns:p14="http://schemas.microsoft.com/office/powerpoint/2010/main" val="1729056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CA"/>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s-ES"/>
          </a:p>
        </p:txBody>
      </p:sp>
      <p:sp>
        <p:nvSpPr>
          <p:cNvPr id="6" name="Rectangle 5"/>
          <p:cNvSpPr>
            <a:spLocks noGrp="1" noChangeArrowheads="1"/>
          </p:cNvSpPr>
          <p:nvPr>
            <p:ph type="ftr" sz="quarter" idx="11"/>
          </p:nvPr>
        </p:nvSpPr>
        <p:spPr>
          <a:ln/>
        </p:spPr>
        <p:txBody>
          <a:bodyPr/>
          <a:lstStyle>
            <a:lvl1pPr>
              <a:defRPr/>
            </a:lvl1pPr>
          </a:lstStyle>
          <a:p>
            <a:pPr>
              <a:defRPr/>
            </a:pPr>
            <a:endParaRPr lang="es-ES"/>
          </a:p>
        </p:txBody>
      </p:sp>
      <p:sp>
        <p:nvSpPr>
          <p:cNvPr id="7" name="Rectangle 6"/>
          <p:cNvSpPr>
            <a:spLocks noGrp="1" noChangeArrowheads="1"/>
          </p:cNvSpPr>
          <p:nvPr>
            <p:ph type="sldNum" sz="quarter" idx="12"/>
          </p:nvPr>
        </p:nvSpPr>
        <p:spPr>
          <a:ln/>
        </p:spPr>
        <p:txBody>
          <a:bodyPr/>
          <a:lstStyle>
            <a:lvl1pPr>
              <a:defRPr/>
            </a:lvl1pPr>
          </a:lstStyle>
          <a:p>
            <a:pPr>
              <a:defRPr/>
            </a:pPr>
            <a:fld id="{B8DA0E8D-C983-416A-9511-7AD7F54A419E}" type="slidenum">
              <a:rPr lang="es-ES"/>
              <a:pPr>
                <a:defRPr/>
              </a:pPr>
              <a:t>‹#›</a:t>
            </a:fld>
            <a:endParaRPr lang="es-ES"/>
          </a:p>
        </p:txBody>
      </p:sp>
    </p:spTree>
    <p:extLst>
      <p:ext uri="{BB962C8B-B14F-4D97-AF65-F5344CB8AC3E}">
        <p14:creationId xmlns:p14="http://schemas.microsoft.com/office/powerpoint/2010/main" val="20600378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CA"/>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CA"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s-ES"/>
          </a:p>
        </p:txBody>
      </p:sp>
      <p:sp>
        <p:nvSpPr>
          <p:cNvPr id="6" name="Rectangle 5"/>
          <p:cNvSpPr>
            <a:spLocks noGrp="1" noChangeArrowheads="1"/>
          </p:cNvSpPr>
          <p:nvPr>
            <p:ph type="ftr" sz="quarter" idx="11"/>
          </p:nvPr>
        </p:nvSpPr>
        <p:spPr>
          <a:ln/>
        </p:spPr>
        <p:txBody>
          <a:bodyPr/>
          <a:lstStyle>
            <a:lvl1pPr>
              <a:defRPr/>
            </a:lvl1pPr>
          </a:lstStyle>
          <a:p>
            <a:pPr>
              <a:defRPr/>
            </a:pPr>
            <a:endParaRPr lang="es-ES"/>
          </a:p>
        </p:txBody>
      </p:sp>
      <p:sp>
        <p:nvSpPr>
          <p:cNvPr id="7" name="Rectangle 6"/>
          <p:cNvSpPr>
            <a:spLocks noGrp="1" noChangeArrowheads="1"/>
          </p:cNvSpPr>
          <p:nvPr>
            <p:ph type="sldNum" sz="quarter" idx="12"/>
          </p:nvPr>
        </p:nvSpPr>
        <p:spPr>
          <a:ln/>
        </p:spPr>
        <p:txBody>
          <a:bodyPr/>
          <a:lstStyle>
            <a:lvl1pPr>
              <a:defRPr/>
            </a:lvl1pPr>
          </a:lstStyle>
          <a:p>
            <a:pPr>
              <a:defRPr/>
            </a:pPr>
            <a:fld id="{80896F9F-A52F-478F-BF68-1F6D0A5BA8BD}" type="slidenum">
              <a:rPr lang="es-ES"/>
              <a:pPr>
                <a:defRPr/>
              </a:pPr>
              <a:t>‹#›</a:t>
            </a:fld>
            <a:endParaRPr lang="es-ES"/>
          </a:p>
        </p:txBody>
      </p:sp>
    </p:spTree>
    <p:extLst>
      <p:ext uri="{BB962C8B-B14F-4D97-AF65-F5344CB8AC3E}">
        <p14:creationId xmlns:p14="http://schemas.microsoft.com/office/powerpoint/2010/main" val="38756544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Rectangle 4"/>
          <p:cNvSpPr>
            <a:spLocks noGrp="1" noChangeArrowheads="1"/>
          </p:cNvSpPr>
          <p:nvPr>
            <p:ph type="dt" sz="half" idx="10"/>
          </p:nvPr>
        </p:nvSpPr>
        <p:spPr>
          <a:ln/>
        </p:spPr>
        <p:txBody>
          <a:bodyPr/>
          <a:lstStyle>
            <a:lvl1pPr>
              <a:defRPr/>
            </a:lvl1pPr>
          </a:lstStyle>
          <a:p>
            <a:pPr>
              <a:defRPr/>
            </a:pPr>
            <a:endParaRPr lang="es-ES"/>
          </a:p>
        </p:txBody>
      </p:sp>
      <p:sp>
        <p:nvSpPr>
          <p:cNvPr id="5" name="Rectangle 5"/>
          <p:cNvSpPr>
            <a:spLocks noGrp="1" noChangeArrowheads="1"/>
          </p:cNvSpPr>
          <p:nvPr>
            <p:ph type="ftr" sz="quarter" idx="11"/>
          </p:nvPr>
        </p:nvSpPr>
        <p:spPr>
          <a:ln/>
        </p:spPr>
        <p:txBody>
          <a:bodyPr/>
          <a:lstStyle>
            <a:lvl1pPr>
              <a:defRPr/>
            </a:lvl1pPr>
          </a:lstStyle>
          <a:p>
            <a:pPr>
              <a:defRPr/>
            </a:pPr>
            <a:endParaRPr lang="es-ES"/>
          </a:p>
        </p:txBody>
      </p:sp>
      <p:sp>
        <p:nvSpPr>
          <p:cNvPr id="6" name="Rectangle 6"/>
          <p:cNvSpPr>
            <a:spLocks noGrp="1" noChangeArrowheads="1"/>
          </p:cNvSpPr>
          <p:nvPr>
            <p:ph type="sldNum" sz="quarter" idx="12"/>
          </p:nvPr>
        </p:nvSpPr>
        <p:spPr>
          <a:ln/>
        </p:spPr>
        <p:txBody>
          <a:bodyPr/>
          <a:lstStyle>
            <a:lvl1pPr>
              <a:defRPr/>
            </a:lvl1pPr>
          </a:lstStyle>
          <a:p>
            <a:pPr>
              <a:defRPr/>
            </a:pPr>
            <a:fld id="{848B7BD3-CCD9-4A7D-AFC0-F7B480417480}" type="slidenum">
              <a:rPr lang="es-ES"/>
              <a:pPr>
                <a:defRPr/>
              </a:pPr>
              <a:t>‹#›</a:t>
            </a:fld>
            <a:endParaRPr lang="es-ES"/>
          </a:p>
        </p:txBody>
      </p:sp>
    </p:spTree>
    <p:extLst>
      <p:ext uri="{BB962C8B-B14F-4D97-AF65-F5344CB8AC3E}">
        <p14:creationId xmlns:p14="http://schemas.microsoft.com/office/powerpoint/2010/main" val="18485721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Rectangle 4"/>
          <p:cNvSpPr>
            <a:spLocks noGrp="1" noChangeArrowheads="1"/>
          </p:cNvSpPr>
          <p:nvPr>
            <p:ph type="dt" sz="half" idx="10"/>
          </p:nvPr>
        </p:nvSpPr>
        <p:spPr>
          <a:ln/>
        </p:spPr>
        <p:txBody>
          <a:bodyPr/>
          <a:lstStyle>
            <a:lvl1pPr>
              <a:defRPr/>
            </a:lvl1pPr>
          </a:lstStyle>
          <a:p>
            <a:pPr>
              <a:defRPr/>
            </a:pPr>
            <a:endParaRPr lang="es-ES"/>
          </a:p>
        </p:txBody>
      </p:sp>
      <p:sp>
        <p:nvSpPr>
          <p:cNvPr id="5" name="Rectangle 5"/>
          <p:cNvSpPr>
            <a:spLocks noGrp="1" noChangeArrowheads="1"/>
          </p:cNvSpPr>
          <p:nvPr>
            <p:ph type="ftr" sz="quarter" idx="11"/>
          </p:nvPr>
        </p:nvSpPr>
        <p:spPr>
          <a:ln/>
        </p:spPr>
        <p:txBody>
          <a:bodyPr/>
          <a:lstStyle>
            <a:lvl1pPr>
              <a:defRPr/>
            </a:lvl1pPr>
          </a:lstStyle>
          <a:p>
            <a:pPr>
              <a:defRPr/>
            </a:pPr>
            <a:endParaRPr lang="es-ES"/>
          </a:p>
        </p:txBody>
      </p:sp>
      <p:sp>
        <p:nvSpPr>
          <p:cNvPr id="6" name="Rectangle 6"/>
          <p:cNvSpPr>
            <a:spLocks noGrp="1" noChangeArrowheads="1"/>
          </p:cNvSpPr>
          <p:nvPr>
            <p:ph type="sldNum" sz="quarter" idx="12"/>
          </p:nvPr>
        </p:nvSpPr>
        <p:spPr>
          <a:ln/>
        </p:spPr>
        <p:txBody>
          <a:bodyPr/>
          <a:lstStyle>
            <a:lvl1pPr>
              <a:defRPr/>
            </a:lvl1pPr>
          </a:lstStyle>
          <a:p>
            <a:pPr>
              <a:defRPr/>
            </a:pPr>
            <a:fld id="{B2C41770-A56D-43DA-A627-1ECC0695800F}" type="slidenum">
              <a:rPr lang="es-ES"/>
              <a:pPr>
                <a:defRPr/>
              </a:pPr>
              <a:t>‹#›</a:t>
            </a:fld>
            <a:endParaRPr lang="es-ES"/>
          </a:p>
        </p:txBody>
      </p:sp>
    </p:spTree>
    <p:extLst>
      <p:ext uri="{BB962C8B-B14F-4D97-AF65-F5344CB8AC3E}">
        <p14:creationId xmlns:p14="http://schemas.microsoft.com/office/powerpoint/2010/main" val="26318827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57200" y="274638"/>
            <a:ext cx="8229600" cy="1143000"/>
          </a:xfrm>
        </p:spPr>
        <p:txBody>
          <a:bodyPr/>
          <a:lstStyle/>
          <a:p>
            <a:r>
              <a:rPr lang="en-US"/>
              <a:t>Click to edit Master title style</a:t>
            </a:r>
            <a:endParaRPr lang="en-CA"/>
          </a:p>
        </p:txBody>
      </p:sp>
      <p:sp>
        <p:nvSpPr>
          <p:cNvPr id="3" name="Content Placeholder 2"/>
          <p:cNvSpPr>
            <a:spLocks noGrp="1"/>
          </p:cNvSpPr>
          <p:nvPr>
            <p:ph sz="quarter" idx="1"/>
          </p:nvPr>
        </p:nvSpPr>
        <p:spPr>
          <a:xfrm>
            <a:off x="457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Content Placeholder 4"/>
          <p:cNvSpPr>
            <a:spLocks noGrp="1"/>
          </p:cNvSpPr>
          <p:nvPr>
            <p:ph sz="quarter" idx="3"/>
          </p:nvPr>
        </p:nvSpPr>
        <p:spPr>
          <a:xfrm>
            <a:off x="457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Content Placeholder 5"/>
          <p:cNvSpPr>
            <a:spLocks noGrp="1"/>
          </p:cNvSpPr>
          <p:nvPr>
            <p:ph sz="quarter" idx="4"/>
          </p:nvPr>
        </p:nvSpPr>
        <p:spPr>
          <a:xfrm>
            <a:off x="4648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Rectangle 4"/>
          <p:cNvSpPr>
            <a:spLocks noGrp="1" noChangeArrowheads="1"/>
          </p:cNvSpPr>
          <p:nvPr>
            <p:ph type="dt" sz="half" idx="10"/>
          </p:nvPr>
        </p:nvSpPr>
        <p:spPr>
          <a:ln/>
        </p:spPr>
        <p:txBody>
          <a:bodyPr/>
          <a:lstStyle>
            <a:lvl1pPr>
              <a:defRPr/>
            </a:lvl1pPr>
          </a:lstStyle>
          <a:p>
            <a:pPr>
              <a:defRPr/>
            </a:pPr>
            <a:endParaRPr lang="es-ES"/>
          </a:p>
        </p:txBody>
      </p:sp>
      <p:sp>
        <p:nvSpPr>
          <p:cNvPr id="8" name="Rectangle 5"/>
          <p:cNvSpPr>
            <a:spLocks noGrp="1" noChangeArrowheads="1"/>
          </p:cNvSpPr>
          <p:nvPr>
            <p:ph type="ftr" sz="quarter" idx="11"/>
          </p:nvPr>
        </p:nvSpPr>
        <p:spPr>
          <a:ln/>
        </p:spPr>
        <p:txBody>
          <a:bodyPr/>
          <a:lstStyle>
            <a:lvl1pPr>
              <a:defRPr/>
            </a:lvl1pPr>
          </a:lstStyle>
          <a:p>
            <a:pPr>
              <a:defRPr/>
            </a:pPr>
            <a:endParaRPr lang="es-ES"/>
          </a:p>
        </p:txBody>
      </p:sp>
      <p:sp>
        <p:nvSpPr>
          <p:cNvPr id="9" name="Rectangle 6"/>
          <p:cNvSpPr>
            <a:spLocks noGrp="1" noChangeArrowheads="1"/>
          </p:cNvSpPr>
          <p:nvPr>
            <p:ph type="sldNum" sz="quarter" idx="12"/>
          </p:nvPr>
        </p:nvSpPr>
        <p:spPr>
          <a:ln/>
        </p:spPr>
        <p:txBody>
          <a:bodyPr/>
          <a:lstStyle>
            <a:lvl1pPr>
              <a:defRPr/>
            </a:lvl1pPr>
          </a:lstStyle>
          <a:p>
            <a:pPr>
              <a:defRPr/>
            </a:pPr>
            <a:fld id="{F365E980-5DEB-4133-8B4D-1A38EAF8AB56}" type="slidenum">
              <a:rPr lang="es-ES"/>
              <a:pPr>
                <a:defRPr/>
              </a:pPr>
              <a:t>‹#›</a:t>
            </a:fld>
            <a:endParaRPr lang="es-ES"/>
          </a:p>
        </p:txBody>
      </p:sp>
    </p:spTree>
    <p:extLst>
      <p:ext uri="{BB962C8B-B14F-4D97-AF65-F5344CB8AC3E}">
        <p14:creationId xmlns:p14="http://schemas.microsoft.com/office/powerpoint/2010/main" val="8133313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85800" y="609600"/>
            <a:ext cx="777240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685800" y="6248400"/>
            <a:ext cx="1905000" cy="457200"/>
          </a:xfrm>
        </p:spPr>
        <p:txBody>
          <a:bodyPr/>
          <a:lstStyle>
            <a:lvl1pPr>
              <a:defRPr/>
            </a:lvl1pPr>
          </a:lstStyle>
          <a:p>
            <a:pPr>
              <a:defRPr/>
            </a:pPr>
            <a:endParaRPr lang="en-US"/>
          </a:p>
        </p:txBody>
      </p:sp>
      <p:sp>
        <p:nvSpPr>
          <p:cNvPr id="4" name="Footer Placeholder 3"/>
          <p:cNvSpPr>
            <a:spLocks noGrp="1"/>
          </p:cNvSpPr>
          <p:nvPr>
            <p:ph type="ftr" sz="quarter" idx="11"/>
          </p:nvPr>
        </p:nvSpPr>
        <p:spPr>
          <a:xfrm>
            <a:off x="3124200" y="6248400"/>
            <a:ext cx="2895600" cy="457200"/>
          </a:xfrm>
        </p:spPr>
        <p:txBody>
          <a:bodyPr/>
          <a:lstStyle>
            <a:lvl1pPr>
              <a:defRPr/>
            </a:lvl1pPr>
          </a:lstStyle>
          <a:p>
            <a:pPr>
              <a:defRPr/>
            </a:pPr>
            <a:endParaRPr lang="en-US"/>
          </a:p>
        </p:txBody>
      </p:sp>
      <p:sp>
        <p:nvSpPr>
          <p:cNvPr id="5" name="Slide Number Placeholder 4"/>
          <p:cNvSpPr>
            <a:spLocks noGrp="1"/>
          </p:cNvSpPr>
          <p:nvPr>
            <p:ph type="sldNum" sz="quarter" idx="12"/>
          </p:nvPr>
        </p:nvSpPr>
        <p:spPr>
          <a:xfrm>
            <a:off x="6553200" y="6248400"/>
            <a:ext cx="1905000" cy="457200"/>
          </a:xfrm>
        </p:spPr>
        <p:txBody>
          <a:bodyPr/>
          <a:lstStyle>
            <a:lvl1pPr>
              <a:defRPr/>
            </a:lvl1pPr>
          </a:lstStyle>
          <a:p>
            <a:pPr>
              <a:defRPr/>
            </a:pPr>
            <a:fld id="{CEC0B0D6-860F-4353-872A-9D59EA04B6B0}" type="slidenum">
              <a:rPr lang="en-US"/>
              <a:pPr>
                <a:defRPr/>
              </a:pPr>
              <a:t>‹#›</a:t>
            </a:fld>
            <a:endParaRPr lang="en-US"/>
          </a:p>
        </p:txBody>
      </p:sp>
    </p:spTree>
    <p:extLst>
      <p:ext uri="{BB962C8B-B14F-4D97-AF65-F5344CB8AC3E}">
        <p14:creationId xmlns:p14="http://schemas.microsoft.com/office/powerpoint/2010/main" val="6318557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s-E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s-ES"/>
              <a:t>Click to edit Master text styles</a:t>
            </a:r>
          </a:p>
          <a:p>
            <a:pPr lvl="1"/>
            <a:r>
              <a:rPr lang="es-ES"/>
              <a:t>Second level</a:t>
            </a:r>
          </a:p>
          <a:p>
            <a:pPr lvl="2"/>
            <a:r>
              <a:rPr lang="es-ES"/>
              <a:t>Third level</a:t>
            </a:r>
          </a:p>
          <a:p>
            <a:pPr lvl="3"/>
            <a:r>
              <a:rPr lang="es-ES"/>
              <a:t>Fourth level</a:t>
            </a:r>
          </a:p>
          <a:p>
            <a:pPr lvl="4"/>
            <a:r>
              <a:rPr lang="es-E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smtClean="0"/>
            </a:lvl1pPr>
          </a:lstStyle>
          <a:p>
            <a:pPr>
              <a:defRPr/>
            </a:pPr>
            <a:endParaRPr lang="es-E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smtClean="0"/>
            </a:lvl1pPr>
          </a:lstStyle>
          <a:p>
            <a:pPr>
              <a:defRPr/>
            </a:pPr>
            <a:endParaRPr lang="es-E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smtClean="0"/>
            </a:lvl1pPr>
          </a:lstStyle>
          <a:p>
            <a:pPr>
              <a:defRPr/>
            </a:pPr>
            <a:fld id="{EE3329CE-444A-45E4-B330-4341F3695961}" type="slidenum">
              <a:rPr lang="es-ES"/>
              <a:pPr>
                <a:defRPr/>
              </a:pPr>
              <a:t>‹#›</a:t>
            </a:fld>
            <a:endParaRPr lang="es-E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8.jpeg"/><Relationship Id="rId7"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1.jpeg"/><Relationship Id="rId5" Type="http://schemas.openxmlformats.org/officeDocument/2006/relationships/image" Target="../media/image10.png"/><Relationship Id="rId4" Type="http://schemas.openxmlformats.org/officeDocument/2006/relationships/image" Target="../media/image9.jpeg"/></Relationships>
</file>

<file path=ppt/slides/_rels/slide5.xml.rels><?xml version="1.0" encoding="UTF-8" standalone="yes"?>
<Relationships xmlns="http://schemas.openxmlformats.org/package/2006/relationships"><Relationship Id="rId3" Type="http://schemas.openxmlformats.org/officeDocument/2006/relationships/hyperlink" Target="http://www.fao.org/docrep/010/a1427e/a1427e00.htm"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hyperlink" Target="http://www.fao.org/docrep/011/i0291e/i0291e00.htm" TargetMode="External"/><Relationship Id="rId13" Type="http://schemas.openxmlformats.org/officeDocument/2006/relationships/image" Target="../media/image19.png"/><Relationship Id="rId3" Type="http://schemas.openxmlformats.org/officeDocument/2006/relationships/image" Target="../media/image11.jpeg"/><Relationship Id="rId7" Type="http://schemas.openxmlformats.org/officeDocument/2006/relationships/image" Target="../media/image16.jpeg"/><Relationship Id="rId12"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jpeg"/><Relationship Id="rId11" Type="http://schemas.openxmlformats.org/officeDocument/2006/relationships/image" Target="../media/image17.jpeg"/><Relationship Id="rId5" Type="http://schemas.openxmlformats.org/officeDocument/2006/relationships/image" Target="../media/image15.jpeg"/><Relationship Id="rId15" Type="http://schemas.openxmlformats.org/officeDocument/2006/relationships/image" Target="../media/image21.png"/><Relationship Id="rId10" Type="http://schemas.openxmlformats.org/officeDocument/2006/relationships/hyperlink" Target="http://ap.ohchr.org/documents/E/CHR/resolutions/E-CN_4-RES-2002-25.doc" TargetMode="External"/><Relationship Id="rId4" Type="http://schemas.openxmlformats.org/officeDocument/2006/relationships/image" Target="../media/image14.png"/><Relationship Id="rId9" Type="http://schemas.openxmlformats.org/officeDocument/2006/relationships/hyperlink" Target="http://www.fao.org/docrep/005/y7352e/y7352e00.htm" TargetMode="External"/><Relationship Id="rId14" Type="http://schemas.openxmlformats.org/officeDocument/2006/relationships/image" Target="../media/image20.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3.jpe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chart" Target="../charts/chart3.xml"/><Relationship Id="rId4" Type="http://schemas.openxmlformats.org/officeDocument/2006/relationships/chart" Target="../charts/chart2.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4.png"/><Relationship Id="rId3" Type="http://schemas.openxmlformats.org/officeDocument/2006/relationships/notesSlide" Target="../notesSlides/notesSlide11.xml"/><Relationship Id="rId7" Type="http://schemas.openxmlformats.org/officeDocument/2006/relationships/oleObject" Target="../embeddings/oleObject2.bin"/><Relationship Id="rId12" Type="http://schemas.openxmlformats.org/officeDocument/2006/relationships/image" Target="../media/image33.png"/><Relationship Id="rId2" Type="http://schemas.openxmlformats.org/officeDocument/2006/relationships/slideLayout" Target="../slideLayouts/slideLayout12.xml"/><Relationship Id="rId1" Type="http://schemas.openxmlformats.org/officeDocument/2006/relationships/vmlDrawing" Target="../drawings/vmlDrawing1.vml"/><Relationship Id="rId6" Type="http://schemas.openxmlformats.org/officeDocument/2006/relationships/image" Target="../media/image29.png"/><Relationship Id="rId11" Type="http://schemas.openxmlformats.org/officeDocument/2006/relationships/image" Target="../media/image32.png"/><Relationship Id="rId5" Type="http://schemas.openxmlformats.org/officeDocument/2006/relationships/image" Target="../media/image27.png"/><Relationship Id="rId15" Type="http://schemas.openxmlformats.org/officeDocument/2006/relationships/image" Target="../media/image36.png"/><Relationship Id="rId10" Type="http://schemas.openxmlformats.org/officeDocument/2006/relationships/image" Target="../media/image31.png"/><Relationship Id="rId4" Type="http://schemas.openxmlformats.org/officeDocument/2006/relationships/oleObject" Target="../embeddings/oleObject1.bin"/><Relationship Id="rId9" Type="http://schemas.openxmlformats.org/officeDocument/2006/relationships/image" Target="../media/image30.png"/><Relationship Id="rId14" Type="http://schemas.openxmlformats.org/officeDocument/2006/relationships/image" Target="../media/image35.png"/></Relationships>
</file>

<file path=ppt/slides/_rels/slide14.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40.jpeg"/><Relationship Id="rId5" Type="http://schemas.openxmlformats.org/officeDocument/2006/relationships/image" Target="../media/image39.png"/><Relationship Id="rId4" Type="http://schemas.openxmlformats.org/officeDocument/2006/relationships/image" Target="../media/image38.jpeg"/><Relationship Id="rId9"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50" name="Text Box 4"/>
          <p:cNvSpPr txBox="1">
            <a:spLocks noChangeArrowheads="1"/>
          </p:cNvSpPr>
          <p:nvPr/>
        </p:nvSpPr>
        <p:spPr bwMode="auto">
          <a:xfrm>
            <a:off x="4648200" y="76200"/>
            <a:ext cx="44958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r>
              <a:rPr lang="en-US" b="1" dirty="0">
                <a:solidFill>
                  <a:schemeClr val="bg1"/>
                </a:solidFill>
              </a:rPr>
              <a:t>On the need for large scale analyses</a:t>
            </a:r>
          </a:p>
          <a:p>
            <a:pPr algn="r" eaLnBrk="1" hangingPunct="1"/>
            <a:r>
              <a:rPr lang="en-US" b="1" i="1" dirty="0">
                <a:solidFill>
                  <a:schemeClr val="bg1"/>
                </a:solidFill>
                <a:latin typeface="Times New Roman" pitchFamily="18" charset="0"/>
              </a:rPr>
              <a:t>By  </a:t>
            </a:r>
            <a:r>
              <a:rPr lang="en-US" b="1" dirty="0" err="1">
                <a:solidFill>
                  <a:schemeClr val="bg1"/>
                </a:solidFill>
                <a:latin typeface="Times New Roman" pitchFamily="18" charset="0"/>
              </a:rPr>
              <a:t>Camilo</a:t>
            </a:r>
            <a:r>
              <a:rPr lang="en-US" b="1" dirty="0">
                <a:solidFill>
                  <a:schemeClr val="bg1"/>
                </a:solidFill>
                <a:latin typeface="Times New Roman" pitchFamily="18" charset="0"/>
              </a:rPr>
              <a:t> Mora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0752" y="5029200"/>
            <a:ext cx="2646294" cy="14593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3" name="Group 2"/>
          <p:cNvGrpSpPr/>
          <p:nvPr/>
        </p:nvGrpSpPr>
        <p:grpSpPr>
          <a:xfrm>
            <a:off x="6141835" y="1044732"/>
            <a:ext cx="2683507" cy="3496651"/>
            <a:chOff x="5076056" y="452620"/>
            <a:chExt cx="3578009" cy="4662201"/>
          </a:xfrm>
        </p:grpSpPr>
        <p:pic>
          <p:nvPicPr>
            <p:cNvPr id="1029"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76056" y="452620"/>
              <a:ext cx="3578009" cy="28014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Freeform 8"/>
            <p:cNvSpPr/>
            <p:nvPr/>
          </p:nvSpPr>
          <p:spPr>
            <a:xfrm>
              <a:off x="5726144" y="2780928"/>
              <a:ext cx="2277562" cy="2333893"/>
            </a:xfrm>
            <a:custGeom>
              <a:avLst/>
              <a:gdLst>
                <a:gd name="connsiteX0" fmla="*/ 0 w 2011680"/>
                <a:gd name="connsiteY0" fmla="*/ 594360 h 688436"/>
                <a:gd name="connsiteX1" fmla="*/ 1251585 w 2011680"/>
                <a:gd name="connsiteY1" fmla="*/ 640080 h 688436"/>
                <a:gd name="connsiteX2" fmla="*/ 2011680 w 2011680"/>
                <a:gd name="connsiteY2" fmla="*/ 0 h 688436"/>
                <a:gd name="connsiteX0" fmla="*/ 0 w 1246290"/>
                <a:gd name="connsiteY0" fmla="*/ 784679 h 811016"/>
                <a:gd name="connsiteX1" fmla="*/ 486195 w 1246290"/>
                <a:gd name="connsiteY1" fmla="*/ 640080 h 811016"/>
                <a:gd name="connsiteX2" fmla="*/ 1246290 w 1246290"/>
                <a:gd name="connsiteY2" fmla="*/ 0 h 811016"/>
                <a:gd name="connsiteX0" fmla="*/ 0 w 1246290"/>
                <a:gd name="connsiteY0" fmla="*/ 784679 h 784679"/>
                <a:gd name="connsiteX1" fmla="*/ 1246290 w 1246290"/>
                <a:gd name="connsiteY1" fmla="*/ 0 h 784679"/>
                <a:gd name="connsiteX0" fmla="*/ 0 w 1246290"/>
                <a:gd name="connsiteY0" fmla="*/ 784679 h 786153"/>
                <a:gd name="connsiteX1" fmla="*/ 1246290 w 1246290"/>
                <a:gd name="connsiteY1" fmla="*/ 0 h 786153"/>
                <a:gd name="connsiteX0" fmla="*/ 0 w 1303395"/>
                <a:gd name="connsiteY0" fmla="*/ 784679 h 786242"/>
                <a:gd name="connsiteX1" fmla="*/ 1246290 w 1303395"/>
                <a:gd name="connsiteY1" fmla="*/ 0 h 786242"/>
              </a:gdLst>
              <a:ahLst/>
              <a:cxnLst>
                <a:cxn ang="0">
                  <a:pos x="connsiteX0" y="connsiteY0"/>
                </a:cxn>
                <a:cxn ang="0">
                  <a:pos x="connsiteX1" y="connsiteY1"/>
                </a:cxn>
              </a:cxnLst>
              <a:rect l="l" t="t" r="r" b="b"/>
              <a:pathLst>
                <a:path w="1303395" h="786242">
                  <a:moveTo>
                    <a:pt x="0" y="784679"/>
                  </a:moveTo>
                  <a:cubicBezTo>
                    <a:pt x="1553171" y="818510"/>
                    <a:pt x="1320433" y="295262"/>
                    <a:pt x="1246290" y="0"/>
                  </a:cubicBezTo>
                </a:path>
              </a:pathLst>
            </a:custGeom>
            <a:noFill/>
            <a:ln w="76200">
              <a:solidFill>
                <a:srgbClr val="00B0F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TextBox 4"/>
          <p:cNvSpPr txBox="1"/>
          <p:nvPr/>
        </p:nvSpPr>
        <p:spPr>
          <a:xfrm>
            <a:off x="0" y="300677"/>
            <a:ext cx="9143999" cy="369332"/>
          </a:xfrm>
          <a:prstGeom prst="rect">
            <a:avLst/>
          </a:prstGeom>
          <a:solidFill>
            <a:schemeClr val="bg2">
              <a:lumMod val="20000"/>
              <a:lumOff val="80000"/>
            </a:schemeClr>
          </a:solidFill>
        </p:spPr>
        <p:txBody>
          <a:bodyPr wrap="square" rtlCol="0">
            <a:spAutoFit/>
          </a:bodyPr>
          <a:lstStyle/>
          <a:p>
            <a:pPr algn="ctr"/>
            <a:r>
              <a:rPr lang="en-US" dirty="0"/>
              <a:t>What is the purpose of this analogy?</a:t>
            </a:r>
          </a:p>
        </p:txBody>
      </p:sp>
      <p:grpSp>
        <p:nvGrpSpPr>
          <p:cNvPr id="2" name="Group 1"/>
          <p:cNvGrpSpPr/>
          <p:nvPr/>
        </p:nvGrpSpPr>
        <p:grpSpPr>
          <a:xfrm>
            <a:off x="3124200" y="3511848"/>
            <a:ext cx="3489983" cy="2281915"/>
            <a:chOff x="2641599" y="3539464"/>
            <a:chExt cx="4653310" cy="3042553"/>
          </a:xfrm>
        </p:grpSpPr>
        <p:pic>
          <p:nvPicPr>
            <p:cNvPr id="1027"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11960" y="3539464"/>
              <a:ext cx="3082949" cy="20875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Freeform 3"/>
            <p:cNvSpPr/>
            <p:nvPr/>
          </p:nvSpPr>
          <p:spPr>
            <a:xfrm>
              <a:off x="2641599" y="5085184"/>
              <a:ext cx="2861961" cy="1496833"/>
            </a:xfrm>
            <a:custGeom>
              <a:avLst/>
              <a:gdLst>
                <a:gd name="connsiteX0" fmla="*/ 0 w 2011680"/>
                <a:gd name="connsiteY0" fmla="*/ 594360 h 688436"/>
                <a:gd name="connsiteX1" fmla="*/ 1251585 w 2011680"/>
                <a:gd name="connsiteY1" fmla="*/ 640080 h 688436"/>
                <a:gd name="connsiteX2" fmla="*/ 2011680 w 2011680"/>
                <a:gd name="connsiteY2" fmla="*/ 0 h 688436"/>
              </a:gdLst>
              <a:ahLst/>
              <a:cxnLst>
                <a:cxn ang="0">
                  <a:pos x="connsiteX0" y="connsiteY0"/>
                </a:cxn>
                <a:cxn ang="0">
                  <a:pos x="connsiteX1" y="connsiteY1"/>
                </a:cxn>
                <a:cxn ang="0">
                  <a:pos x="connsiteX2" y="connsiteY2"/>
                </a:cxn>
              </a:cxnLst>
              <a:rect l="l" t="t" r="r" b="b"/>
              <a:pathLst>
                <a:path w="2011680" h="688436">
                  <a:moveTo>
                    <a:pt x="0" y="594360"/>
                  </a:moveTo>
                  <a:cubicBezTo>
                    <a:pt x="458152" y="666750"/>
                    <a:pt x="916305" y="739140"/>
                    <a:pt x="1251585" y="640080"/>
                  </a:cubicBezTo>
                  <a:cubicBezTo>
                    <a:pt x="1586865" y="541020"/>
                    <a:pt x="1799272" y="270510"/>
                    <a:pt x="2011680" y="0"/>
                  </a:cubicBezTo>
                </a:path>
              </a:pathLst>
            </a:custGeom>
            <a:noFill/>
            <a:ln w="76200">
              <a:solidFill>
                <a:srgbClr val="00B0F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TextBox 5">
            <a:extLst>
              <a:ext uri="{FF2B5EF4-FFF2-40B4-BE49-F238E27FC236}">
                <a16:creationId xmlns:a16="http://schemas.microsoft.com/office/drawing/2014/main" id="{05158627-8798-41C5-8036-21337859937E}"/>
              </a:ext>
            </a:extLst>
          </p:cNvPr>
          <p:cNvSpPr txBox="1"/>
          <p:nvPr/>
        </p:nvSpPr>
        <p:spPr>
          <a:xfrm>
            <a:off x="310392" y="1747098"/>
            <a:ext cx="3147015" cy="369332"/>
          </a:xfrm>
          <a:prstGeom prst="rect">
            <a:avLst/>
          </a:prstGeom>
          <a:noFill/>
        </p:spPr>
        <p:txBody>
          <a:bodyPr wrap="none" rtlCol="0">
            <a:spAutoFit/>
          </a:bodyPr>
          <a:lstStyle/>
          <a:p>
            <a:r>
              <a:rPr lang="en-US" dirty="0"/>
              <a:t>Skills #1: Imagination / vision</a:t>
            </a:r>
          </a:p>
        </p:txBody>
      </p:sp>
      <p:sp>
        <p:nvSpPr>
          <p:cNvPr id="15" name="TextBox 14">
            <a:extLst>
              <a:ext uri="{FF2B5EF4-FFF2-40B4-BE49-F238E27FC236}">
                <a16:creationId xmlns:a16="http://schemas.microsoft.com/office/drawing/2014/main" id="{9626C410-1EF5-40A7-BFEF-EEDFB95D08A9}"/>
              </a:ext>
            </a:extLst>
          </p:cNvPr>
          <p:cNvSpPr txBox="1"/>
          <p:nvPr/>
        </p:nvSpPr>
        <p:spPr>
          <a:xfrm>
            <a:off x="370733" y="2795585"/>
            <a:ext cx="4091540" cy="1200329"/>
          </a:xfrm>
          <a:prstGeom prst="rect">
            <a:avLst/>
          </a:prstGeom>
          <a:noFill/>
        </p:spPr>
        <p:txBody>
          <a:bodyPr wrap="square" rtlCol="0">
            <a:spAutoFit/>
          </a:bodyPr>
          <a:lstStyle/>
          <a:p>
            <a:r>
              <a:rPr lang="en-US" dirty="0"/>
              <a:t>Skills #2: Can you see patterns where no one sees them? Can you get hints/imagination from trivial observations?</a:t>
            </a:r>
          </a:p>
        </p:txBody>
      </p:sp>
      <p:sp>
        <p:nvSpPr>
          <p:cNvPr id="16" name="TextBox 15">
            <a:extLst>
              <a:ext uri="{FF2B5EF4-FFF2-40B4-BE49-F238E27FC236}">
                <a16:creationId xmlns:a16="http://schemas.microsoft.com/office/drawing/2014/main" id="{76EA78C4-E4A4-4998-8BD6-8BDE144EEB83}"/>
              </a:ext>
            </a:extLst>
          </p:cNvPr>
          <p:cNvSpPr txBox="1"/>
          <p:nvPr/>
        </p:nvSpPr>
        <p:spPr>
          <a:xfrm>
            <a:off x="457200" y="857250"/>
            <a:ext cx="5181600" cy="646331"/>
          </a:xfrm>
          <a:prstGeom prst="rect">
            <a:avLst/>
          </a:prstGeom>
          <a:noFill/>
        </p:spPr>
        <p:txBody>
          <a:bodyPr wrap="square" rtlCol="0">
            <a:spAutoFit/>
          </a:bodyPr>
          <a:lstStyle/>
          <a:p>
            <a:r>
              <a:rPr lang="en-US" dirty="0"/>
              <a:t>Did you see the pattern?</a:t>
            </a:r>
          </a:p>
          <a:p>
            <a:r>
              <a:rPr lang="en-US" dirty="0"/>
              <a:t>What does it said about those that responded?</a:t>
            </a:r>
          </a:p>
        </p:txBody>
      </p:sp>
    </p:spTree>
    <p:extLst>
      <p:ext uri="{BB962C8B-B14F-4D97-AF65-F5344CB8AC3E}">
        <p14:creationId xmlns:p14="http://schemas.microsoft.com/office/powerpoint/2010/main" val="67642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down)">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down)">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 calcmode="lin" valueType="num">
                                      <p:cBhvr>
                                        <p:cTn id="21" dur="500" fill="hold"/>
                                        <p:tgtEl>
                                          <p:spTgt spid="16"/>
                                        </p:tgtEl>
                                        <p:attrNameLst>
                                          <p:attrName>ppt_w</p:attrName>
                                        </p:attrNameLst>
                                      </p:cBhvr>
                                      <p:tavLst>
                                        <p:tav tm="0">
                                          <p:val>
                                            <p:fltVal val="0"/>
                                          </p:val>
                                        </p:tav>
                                        <p:tav tm="100000">
                                          <p:val>
                                            <p:strVal val="#ppt_w"/>
                                          </p:val>
                                        </p:tav>
                                      </p:tavLst>
                                    </p:anim>
                                    <p:anim calcmode="lin" valueType="num">
                                      <p:cBhvr>
                                        <p:cTn id="22" dur="500" fill="hold"/>
                                        <p:tgtEl>
                                          <p:spTgt spid="16"/>
                                        </p:tgtEl>
                                        <p:attrNameLst>
                                          <p:attrName>ppt_h</p:attrName>
                                        </p:attrNameLst>
                                      </p:cBhvr>
                                      <p:tavLst>
                                        <p:tav tm="0">
                                          <p:val>
                                            <p:fltVal val="0"/>
                                          </p:val>
                                        </p:tav>
                                        <p:tav tm="100000">
                                          <p:val>
                                            <p:strVal val="#ppt_h"/>
                                          </p:val>
                                        </p:tav>
                                      </p:tavLst>
                                    </p:anim>
                                    <p:animEffect transition="in" filter="fade">
                                      <p:cBhvr>
                                        <p:cTn id="23" dur="500"/>
                                        <p:tgtEl>
                                          <p:spTgt spid="16"/>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5"/>
                                        </p:tgtEl>
                                        <p:attrNameLst>
                                          <p:attrName>style.visibility</p:attrName>
                                        </p:attrNameLst>
                                      </p:cBhvr>
                                      <p:to>
                                        <p:strVal val="visible"/>
                                      </p:to>
                                    </p:set>
                                    <p:anim calcmode="lin" valueType="num">
                                      <p:cBhvr>
                                        <p:cTn id="28" dur="500" fill="hold"/>
                                        <p:tgtEl>
                                          <p:spTgt spid="5"/>
                                        </p:tgtEl>
                                        <p:attrNameLst>
                                          <p:attrName>ppt_w</p:attrName>
                                        </p:attrNameLst>
                                      </p:cBhvr>
                                      <p:tavLst>
                                        <p:tav tm="0">
                                          <p:val>
                                            <p:fltVal val="0"/>
                                          </p:val>
                                        </p:tav>
                                        <p:tav tm="100000">
                                          <p:val>
                                            <p:strVal val="#ppt_w"/>
                                          </p:val>
                                        </p:tav>
                                      </p:tavLst>
                                    </p:anim>
                                    <p:anim calcmode="lin" valueType="num">
                                      <p:cBhvr>
                                        <p:cTn id="29" dur="500" fill="hold"/>
                                        <p:tgtEl>
                                          <p:spTgt spid="5"/>
                                        </p:tgtEl>
                                        <p:attrNameLst>
                                          <p:attrName>ppt_h</p:attrName>
                                        </p:attrNameLst>
                                      </p:cBhvr>
                                      <p:tavLst>
                                        <p:tav tm="0">
                                          <p:val>
                                            <p:fltVal val="0"/>
                                          </p:val>
                                        </p:tav>
                                        <p:tav tm="100000">
                                          <p:val>
                                            <p:strVal val="#ppt_h"/>
                                          </p:val>
                                        </p:tav>
                                      </p:tavLst>
                                    </p:anim>
                                    <p:animEffect transition="in" filter="fade">
                                      <p:cBhvr>
                                        <p:cTn id="30" dur="500"/>
                                        <p:tgtEl>
                                          <p:spTgt spid="5"/>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500" fill="hold"/>
                                        <p:tgtEl>
                                          <p:spTgt spid="6"/>
                                        </p:tgtEl>
                                        <p:attrNameLst>
                                          <p:attrName>ppt_w</p:attrName>
                                        </p:attrNameLst>
                                      </p:cBhvr>
                                      <p:tavLst>
                                        <p:tav tm="0">
                                          <p:val>
                                            <p:fltVal val="0"/>
                                          </p:val>
                                        </p:tav>
                                        <p:tav tm="100000">
                                          <p:val>
                                            <p:strVal val="#ppt_w"/>
                                          </p:val>
                                        </p:tav>
                                      </p:tavLst>
                                    </p:anim>
                                    <p:anim calcmode="lin" valueType="num">
                                      <p:cBhvr>
                                        <p:cTn id="36" dur="500" fill="hold"/>
                                        <p:tgtEl>
                                          <p:spTgt spid="6"/>
                                        </p:tgtEl>
                                        <p:attrNameLst>
                                          <p:attrName>ppt_h</p:attrName>
                                        </p:attrNameLst>
                                      </p:cBhvr>
                                      <p:tavLst>
                                        <p:tav tm="0">
                                          <p:val>
                                            <p:fltVal val="0"/>
                                          </p:val>
                                        </p:tav>
                                        <p:tav tm="100000">
                                          <p:val>
                                            <p:strVal val="#ppt_h"/>
                                          </p:val>
                                        </p:tav>
                                      </p:tavLst>
                                    </p:anim>
                                    <p:animEffect transition="in" filter="fade">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anim calcmode="lin" valueType="num">
                                      <p:cBhvr>
                                        <p:cTn id="42" dur="500" fill="hold"/>
                                        <p:tgtEl>
                                          <p:spTgt spid="15"/>
                                        </p:tgtEl>
                                        <p:attrNameLst>
                                          <p:attrName>ppt_w</p:attrName>
                                        </p:attrNameLst>
                                      </p:cBhvr>
                                      <p:tavLst>
                                        <p:tav tm="0">
                                          <p:val>
                                            <p:fltVal val="0"/>
                                          </p:val>
                                        </p:tav>
                                        <p:tav tm="100000">
                                          <p:val>
                                            <p:strVal val="#ppt_w"/>
                                          </p:val>
                                        </p:tav>
                                      </p:tavLst>
                                    </p:anim>
                                    <p:anim calcmode="lin" valueType="num">
                                      <p:cBhvr>
                                        <p:cTn id="43" dur="500" fill="hold"/>
                                        <p:tgtEl>
                                          <p:spTgt spid="15"/>
                                        </p:tgtEl>
                                        <p:attrNameLst>
                                          <p:attrName>ppt_h</p:attrName>
                                        </p:attrNameLst>
                                      </p:cBhvr>
                                      <p:tavLst>
                                        <p:tav tm="0">
                                          <p:val>
                                            <p:fltVal val="0"/>
                                          </p:val>
                                        </p:tav>
                                        <p:tav tm="100000">
                                          <p:val>
                                            <p:strVal val="#ppt_h"/>
                                          </p:val>
                                        </p:tav>
                                      </p:tavLst>
                                    </p:anim>
                                    <p:animEffect transition="in" filter="fade">
                                      <p:cBhvr>
                                        <p:cTn id="4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15" grpId="0"/>
      <p:bldP spid="1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87FC83B-6FB7-47B3-818D-FA857DD02489}"/>
              </a:ext>
            </a:extLst>
          </p:cNvPr>
          <p:cNvPicPr>
            <a:picLocks noChangeAspect="1"/>
          </p:cNvPicPr>
          <p:nvPr/>
        </p:nvPicPr>
        <p:blipFill>
          <a:blip r:embed="rId2"/>
          <a:stretch>
            <a:fillRect/>
          </a:stretch>
        </p:blipFill>
        <p:spPr>
          <a:xfrm>
            <a:off x="0" y="276738"/>
            <a:ext cx="9144000" cy="2187290"/>
          </a:xfrm>
          <a:prstGeom prst="rect">
            <a:avLst/>
          </a:prstGeom>
        </p:spPr>
      </p:pic>
      <p:sp>
        <p:nvSpPr>
          <p:cNvPr id="3" name="TextBox 2">
            <a:extLst>
              <a:ext uri="{FF2B5EF4-FFF2-40B4-BE49-F238E27FC236}">
                <a16:creationId xmlns:a16="http://schemas.microsoft.com/office/drawing/2014/main" id="{272A5395-A834-4821-BC3F-49DE4AF1B1E4}"/>
              </a:ext>
            </a:extLst>
          </p:cNvPr>
          <p:cNvSpPr txBox="1"/>
          <p:nvPr/>
        </p:nvSpPr>
        <p:spPr>
          <a:xfrm>
            <a:off x="0" y="-262"/>
            <a:ext cx="9144000" cy="369332"/>
          </a:xfrm>
          <a:prstGeom prst="rect">
            <a:avLst/>
          </a:prstGeom>
          <a:solidFill>
            <a:schemeClr val="bg2">
              <a:lumMod val="75000"/>
            </a:schemeClr>
          </a:solidFill>
        </p:spPr>
        <p:txBody>
          <a:bodyPr wrap="square" rtlCol="0">
            <a:spAutoFit/>
          </a:bodyPr>
          <a:lstStyle/>
          <a:p>
            <a:r>
              <a:rPr lang="en-US" dirty="0"/>
              <a:t>An example about critical observation: </a:t>
            </a:r>
            <a:r>
              <a:rPr lang="en-US" b="1" dirty="0">
                <a:solidFill>
                  <a:schemeClr val="bg1"/>
                </a:solidFill>
                <a:effectLst>
                  <a:outerShdw blurRad="38100" dist="38100" dir="2700000" algn="tl">
                    <a:srgbClr val="000000">
                      <a:alpha val="43137"/>
                    </a:srgbClr>
                  </a:outerShdw>
                </a:effectLst>
              </a:rPr>
              <a:t>The multiple origin controversy</a:t>
            </a:r>
          </a:p>
        </p:txBody>
      </p:sp>
      <p:sp>
        <p:nvSpPr>
          <p:cNvPr id="4" name="TextBox 3">
            <a:extLst>
              <a:ext uri="{FF2B5EF4-FFF2-40B4-BE49-F238E27FC236}">
                <a16:creationId xmlns:a16="http://schemas.microsoft.com/office/drawing/2014/main" id="{B939A158-C488-445C-8580-3660A87DD1E7}"/>
              </a:ext>
            </a:extLst>
          </p:cNvPr>
          <p:cNvSpPr txBox="1"/>
          <p:nvPr/>
        </p:nvSpPr>
        <p:spPr>
          <a:xfrm>
            <a:off x="1942584" y="405713"/>
            <a:ext cx="7201416" cy="461665"/>
          </a:xfrm>
          <a:prstGeom prst="rect">
            <a:avLst/>
          </a:prstGeom>
          <a:solidFill>
            <a:schemeClr val="bg1">
              <a:lumMod val="50000"/>
            </a:schemeClr>
          </a:solidFill>
        </p:spPr>
        <p:txBody>
          <a:bodyPr wrap="square" rtlCol="0">
            <a:spAutoFit/>
          </a:bodyPr>
          <a:lstStyle/>
          <a:p>
            <a:r>
              <a:rPr lang="en-US" sz="1200" b="1" dirty="0">
                <a:solidFill>
                  <a:schemeClr val="bg1"/>
                </a:solidFill>
                <a:effectLst>
                  <a:outerShdw blurRad="38100" dist="38100" dir="2700000" algn="tl">
                    <a:srgbClr val="000000">
                      <a:alpha val="43137"/>
                    </a:srgbClr>
                  </a:outerShdw>
                </a:effectLst>
              </a:rPr>
              <a:t>The same species cannot originate in different places, if so, then why are there coral reefs in the Caribbean, if we know the oldest species are in the Indian Ocean</a:t>
            </a:r>
          </a:p>
        </p:txBody>
      </p:sp>
      <p:sp>
        <p:nvSpPr>
          <p:cNvPr id="5" name="Star: 4 Points 4">
            <a:extLst>
              <a:ext uri="{FF2B5EF4-FFF2-40B4-BE49-F238E27FC236}">
                <a16:creationId xmlns:a16="http://schemas.microsoft.com/office/drawing/2014/main" id="{1DA80D25-A930-46B4-A34E-A819933B3944}"/>
              </a:ext>
            </a:extLst>
          </p:cNvPr>
          <p:cNvSpPr/>
          <p:nvPr/>
        </p:nvSpPr>
        <p:spPr>
          <a:xfrm>
            <a:off x="3564136" y="1566932"/>
            <a:ext cx="367903" cy="321469"/>
          </a:xfrm>
          <a:prstGeom prst="star4">
            <a:avLst/>
          </a:prstGeom>
          <a:solidFill>
            <a:srgbClr val="FFC0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tar: 4 Points 5">
            <a:extLst>
              <a:ext uri="{FF2B5EF4-FFF2-40B4-BE49-F238E27FC236}">
                <a16:creationId xmlns:a16="http://schemas.microsoft.com/office/drawing/2014/main" id="{392C367D-5EC5-4A8A-95AB-C24D306A059C}"/>
              </a:ext>
            </a:extLst>
          </p:cNvPr>
          <p:cNvSpPr/>
          <p:nvPr/>
        </p:nvSpPr>
        <p:spPr>
          <a:xfrm>
            <a:off x="7382471" y="1446600"/>
            <a:ext cx="367903" cy="321469"/>
          </a:xfrm>
          <a:prstGeom prst="star4">
            <a:avLst/>
          </a:prstGeom>
          <a:solidFill>
            <a:srgbClr val="FFC0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tar: 4 Points 6">
            <a:extLst>
              <a:ext uri="{FF2B5EF4-FFF2-40B4-BE49-F238E27FC236}">
                <a16:creationId xmlns:a16="http://schemas.microsoft.com/office/drawing/2014/main" id="{81A831D3-075C-42FD-B1B9-CB03E59672BD}"/>
              </a:ext>
            </a:extLst>
          </p:cNvPr>
          <p:cNvSpPr/>
          <p:nvPr/>
        </p:nvSpPr>
        <p:spPr>
          <a:xfrm>
            <a:off x="7714655" y="981479"/>
            <a:ext cx="367903" cy="321469"/>
          </a:xfrm>
          <a:prstGeom prst="star4">
            <a:avLst/>
          </a:prstGeom>
          <a:solidFill>
            <a:srgbClr val="FFC0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C6F37CDD-42B8-4E9D-9F6F-EAB788C842AC}"/>
              </a:ext>
            </a:extLst>
          </p:cNvPr>
          <p:cNvGrpSpPr/>
          <p:nvPr/>
        </p:nvGrpSpPr>
        <p:grpSpPr>
          <a:xfrm>
            <a:off x="6019800" y="1391760"/>
            <a:ext cx="1496616" cy="646331"/>
            <a:chOff x="8320088" y="2657475"/>
            <a:chExt cx="1995488" cy="861774"/>
          </a:xfrm>
        </p:grpSpPr>
        <p:cxnSp>
          <p:nvCxnSpPr>
            <p:cNvPr id="9" name="Straight Arrow Connector 8">
              <a:extLst>
                <a:ext uri="{FF2B5EF4-FFF2-40B4-BE49-F238E27FC236}">
                  <a16:creationId xmlns:a16="http://schemas.microsoft.com/office/drawing/2014/main" id="{0F622361-21E0-430B-B262-B1C7E5D8652F}"/>
                </a:ext>
              </a:extLst>
            </p:cNvPr>
            <p:cNvCxnSpPr>
              <a:cxnSpLocks/>
            </p:cNvCxnSpPr>
            <p:nvPr/>
          </p:nvCxnSpPr>
          <p:spPr>
            <a:xfrm flipH="1">
              <a:off x="8320088" y="2700338"/>
              <a:ext cx="1995488" cy="0"/>
            </a:xfrm>
            <a:prstGeom prst="straightConnector1">
              <a:avLst/>
            </a:prstGeom>
            <a:ln w="76200">
              <a:solidFill>
                <a:srgbClr val="FFFF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4FD4B785-CE82-43B7-8BFD-7A92E8EC83AE}"/>
                </a:ext>
              </a:extLst>
            </p:cNvPr>
            <p:cNvSpPr txBox="1"/>
            <p:nvPr/>
          </p:nvSpPr>
          <p:spPr>
            <a:xfrm>
              <a:off x="8930627" y="2657475"/>
              <a:ext cx="996427" cy="861774"/>
            </a:xfrm>
            <a:prstGeom prst="rect">
              <a:avLst/>
            </a:prstGeom>
            <a:noFill/>
          </p:spPr>
          <p:txBody>
            <a:bodyPr wrap="none" rtlCol="0">
              <a:spAutoFit/>
            </a:bodyPr>
            <a:lstStyle/>
            <a:p>
              <a:r>
                <a:rPr lang="en-US" sz="1200" b="1" dirty="0">
                  <a:solidFill>
                    <a:srgbClr val="FFFF00"/>
                  </a:solidFill>
                </a:rPr>
                <a:t>Eastern</a:t>
              </a:r>
            </a:p>
            <a:p>
              <a:r>
                <a:rPr lang="en-US" sz="1200" b="1" dirty="0">
                  <a:solidFill>
                    <a:srgbClr val="FFFF00"/>
                  </a:solidFill>
                </a:rPr>
                <a:t>Pacific</a:t>
              </a:r>
            </a:p>
            <a:p>
              <a:r>
                <a:rPr lang="en-US" sz="1200" b="1" dirty="0">
                  <a:solidFill>
                    <a:srgbClr val="FFFF00"/>
                  </a:solidFill>
                </a:rPr>
                <a:t>Barrier</a:t>
              </a:r>
            </a:p>
          </p:txBody>
        </p:sp>
      </p:grpSp>
      <p:grpSp>
        <p:nvGrpSpPr>
          <p:cNvPr id="23" name="Group 22">
            <a:extLst>
              <a:ext uri="{FF2B5EF4-FFF2-40B4-BE49-F238E27FC236}">
                <a16:creationId xmlns:a16="http://schemas.microsoft.com/office/drawing/2014/main" id="{72B7AA83-1809-422F-8B8D-4F79DF41D63C}"/>
              </a:ext>
            </a:extLst>
          </p:cNvPr>
          <p:cNvGrpSpPr/>
          <p:nvPr/>
        </p:nvGrpSpPr>
        <p:grpSpPr>
          <a:xfrm>
            <a:off x="250031" y="3336780"/>
            <a:ext cx="2707481" cy="2467276"/>
            <a:chOff x="333375" y="3372818"/>
            <a:chExt cx="3609975" cy="3289701"/>
          </a:xfrm>
        </p:grpSpPr>
        <p:pic>
          <p:nvPicPr>
            <p:cNvPr id="17" name="Picture 16">
              <a:extLst>
                <a:ext uri="{FF2B5EF4-FFF2-40B4-BE49-F238E27FC236}">
                  <a16:creationId xmlns:a16="http://schemas.microsoft.com/office/drawing/2014/main" id="{58F64C66-1D8A-4691-BA80-18E17F3843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3375" y="3819664"/>
              <a:ext cx="3609975" cy="2842855"/>
            </a:xfrm>
            <a:prstGeom prst="rect">
              <a:avLst/>
            </a:prstGeom>
          </p:spPr>
        </p:pic>
        <p:sp>
          <p:nvSpPr>
            <p:cNvPr id="18" name="TextBox 17">
              <a:extLst>
                <a:ext uri="{FF2B5EF4-FFF2-40B4-BE49-F238E27FC236}">
                  <a16:creationId xmlns:a16="http://schemas.microsoft.com/office/drawing/2014/main" id="{C05F5111-2210-42C2-81A7-F9D5FF76A384}"/>
                </a:ext>
              </a:extLst>
            </p:cNvPr>
            <p:cNvSpPr txBox="1"/>
            <p:nvPr/>
          </p:nvSpPr>
          <p:spPr>
            <a:xfrm>
              <a:off x="755030" y="3372818"/>
              <a:ext cx="2725532" cy="492443"/>
            </a:xfrm>
            <a:prstGeom prst="rect">
              <a:avLst/>
            </a:prstGeom>
            <a:noFill/>
          </p:spPr>
          <p:txBody>
            <a:bodyPr wrap="none" rtlCol="0">
              <a:spAutoFit/>
            </a:bodyPr>
            <a:lstStyle/>
            <a:p>
              <a:r>
                <a:rPr lang="en-US" dirty="0"/>
                <a:t>What do you see?</a:t>
              </a:r>
            </a:p>
          </p:txBody>
        </p:sp>
      </p:grpSp>
      <p:grpSp>
        <p:nvGrpSpPr>
          <p:cNvPr id="24" name="Group 23">
            <a:extLst>
              <a:ext uri="{FF2B5EF4-FFF2-40B4-BE49-F238E27FC236}">
                <a16:creationId xmlns:a16="http://schemas.microsoft.com/office/drawing/2014/main" id="{FF1DB783-095A-4F24-A615-E9FB7FF3DF49}"/>
              </a:ext>
            </a:extLst>
          </p:cNvPr>
          <p:cNvGrpSpPr/>
          <p:nvPr/>
        </p:nvGrpSpPr>
        <p:grpSpPr>
          <a:xfrm>
            <a:off x="2730912" y="3721998"/>
            <a:ext cx="3317431" cy="2065358"/>
            <a:chOff x="3641215" y="3819664"/>
            <a:chExt cx="4423241" cy="2753811"/>
          </a:xfrm>
        </p:grpSpPr>
        <p:grpSp>
          <p:nvGrpSpPr>
            <p:cNvPr id="16" name="Group 15">
              <a:extLst>
                <a:ext uri="{FF2B5EF4-FFF2-40B4-BE49-F238E27FC236}">
                  <a16:creationId xmlns:a16="http://schemas.microsoft.com/office/drawing/2014/main" id="{7C177D06-093E-42B9-9F95-A50D348FA902}"/>
                </a:ext>
              </a:extLst>
            </p:cNvPr>
            <p:cNvGrpSpPr/>
            <p:nvPr/>
          </p:nvGrpSpPr>
          <p:grpSpPr>
            <a:xfrm>
              <a:off x="5134697" y="3819664"/>
              <a:ext cx="2929759" cy="2753811"/>
              <a:chOff x="462684" y="4357688"/>
              <a:chExt cx="2929759" cy="2753811"/>
            </a:xfrm>
          </p:grpSpPr>
          <p:pic>
            <p:nvPicPr>
              <p:cNvPr id="14" name="Picture 13">
                <a:extLst>
                  <a:ext uri="{FF2B5EF4-FFF2-40B4-BE49-F238E27FC236}">
                    <a16:creationId xmlns:a16="http://schemas.microsoft.com/office/drawing/2014/main" id="{25B666F9-43C6-4798-9B4A-F8281D542A4F}"/>
                  </a:ext>
                </a:extLst>
              </p:cNvPr>
              <p:cNvPicPr>
                <a:picLocks noChangeAspect="1"/>
              </p:cNvPicPr>
              <p:nvPr/>
            </p:nvPicPr>
            <p:blipFill>
              <a:blip r:embed="rId4"/>
              <a:stretch>
                <a:fillRect/>
              </a:stretch>
            </p:blipFill>
            <p:spPr>
              <a:xfrm>
                <a:off x="462684" y="4357688"/>
                <a:ext cx="2929759" cy="2381250"/>
              </a:xfrm>
              <a:prstGeom prst="rect">
                <a:avLst/>
              </a:prstGeom>
            </p:spPr>
          </p:pic>
          <p:sp>
            <p:nvSpPr>
              <p:cNvPr id="15" name="TextBox 14">
                <a:extLst>
                  <a:ext uri="{FF2B5EF4-FFF2-40B4-BE49-F238E27FC236}">
                    <a16:creationId xmlns:a16="http://schemas.microsoft.com/office/drawing/2014/main" id="{23125B76-82E0-4F9D-9FB0-4921FDB9192A}"/>
                  </a:ext>
                </a:extLst>
              </p:cNvPr>
              <p:cNvSpPr txBox="1"/>
              <p:nvPr/>
            </p:nvSpPr>
            <p:spPr>
              <a:xfrm>
                <a:off x="462684" y="6619056"/>
                <a:ext cx="2929759" cy="492443"/>
              </a:xfrm>
              <a:prstGeom prst="rect">
                <a:avLst/>
              </a:prstGeom>
              <a:solidFill>
                <a:schemeClr val="bg2">
                  <a:lumMod val="75000"/>
                </a:schemeClr>
              </a:solidFill>
            </p:spPr>
            <p:txBody>
              <a:bodyPr wrap="square" rtlCol="0">
                <a:spAutoFit/>
              </a:bodyPr>
              <a:lstStyle/>
              <a:p>
                <a:pPr algn="ctr"/>
                <a:r>
                  <a:rPr lang="en-US" dirty="0"/>
                  <a:t>Peter </a:t>
                </a:r>
                <a:r>
                  <a:rPr lang="en-US" dirty="0" err="1"/>
                  <a:t>Jokiel</a:t>
                </a:r>
                <a:r>
                  <a:rPr lang="en-US" dirty="0"/>
                  <a:t>, Ph.D.</a:t>
                </a:r>
              </a:p>
            </p:txBody>
          </p:sp>
        </p:grpSp>
        <p:cxnSp>
          <p:nvCxnSpPr>
            <p:cNvPr id="19" name="Straight Arrow Connector 18">
              <a:extLst>
                <a:ext uri="{FF2B5EF4-FFF2-40B4-BE49-F238E27FC236}">
                  <a16:creationId xmlns:a16="http://schemas.microsoft.com/office/drawing/2014/main" id="{027EC162-0C65-4870-A6E6-EF9ACCD69D8D}"/>
                </a:ext>
              </a:extLst>
            </p:cNvPr>
            <p:cNvCxnSpPr>
              <a:cxnSpLocks/>
            </p:cNvCxnSpPr>
            <p:nvPr/>
          </p:nvCxnSpPr>
          <p:spPr>
            <a:xfrm>
              <a:off x="3641215" y="4962151"/>
              <a:ext cx="1888048" cy="0"/>
            </a:xfrm>
            <a:prstGeom prst="straightConnector1">
              <a:avLst/>
            </a:prstGeom>
            <a:ln w="76200">
              <a:solidFill>
                <a:schemeClr val="tx2">
                  <a:lumMod val="60000"/>
                  <a:lumOff val="4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25" name="Group 24">
            <a:extLst>
              <a:ext uri="{FF2B5EF4-FFF2-40B4-BE49-F238E27FC236}">
                <a16:creationId xmlns:a16="http://schemas.microsoft.com/office/drawing/2014/main" id="{A363DA91-F5DF-44B0-8CAF-15E0FC3CD906}"/>
              </a:ext>
            </a:extLst>
          </p:cNvPr>
          <p:cNvGrpSpPr/>
          <p:nvPr/>
        </p:nvGrpSpPr>
        <p:grpSpPr>
          <a:xfrm>
            <a:off x="5813440" y="4336487"/>
            <a:ext cx="3330560" cy="461665"/>
            <a:chOff x="7751253" y="4638985"/>
            <a:chExt cx="4440747" cy="615554"/>
          </a:xfrm>
        </p:grpSpPr>
        <p:cxnSp>
          <p:nvCxnSpPr>
            <p:cNvPr id="21" name="Straight Arrow Connector 20">
              <a:extLst>
                <a:ext uri="{FF2B5EF4-FFF2-40B4-BE49-F238E27FC236}">
                  <a16:creationId xmlns:a16="http://schemas.microsoft.com/office/drawing/2014/main" id="{281B3345-00B6-4479-BF14-6616C39812AD}"/>
                </a:ext>
              </a:extLst>
            </p:cNvPr>
            <p:cNvCxnSpPr>
              <a:cxnSpLocks/>
            </p:cNvCxnSpPr>
            <p:nvPr/>
          </p:nvCxnSpPr>
          <p:spPr>
            <a:xfrm>
              <a:off x="7751253" y="4962151"/>
              <a:ext cx="1888048" cy="0"/>
            </a:xfrm>
            <a:prstGeom prst="straightConnector1">
              <a:avLst/>
            </a:prstGeom>
            <a:ln w="76200">
              <a:solidFill>
                <a:schemeClr val="tx2">
                  <a:lumMod val="60000"/>
                  <a:lumOff val="4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23F9EDBB-D87F-494F-A4C1-F7D132DE1193}"/>
                </a:ext>
              </a:extLst>
            </p:cNvPr>
            <p:cNvSpPr txBox="1"/>
            <p:nvPr/>
          </p:nvSpPr>
          <p:spPr>
            <a:xfrm>
              <a:off x="9682820" y="4638985"/>
              <a:ext cx="2509180" cy="615554"/>
            </a:xfrm>
            <a:prstGeom prst="rect">
              <a:avLst/>
            </a:prstGeom>
            <a:noFill/>
          </p:spPr>
          <p:txBody>
            <a:bodyPr wrap="square" rtlCol="0">
              <a:spAutoFit/>
            </a:bodyPr>
            <a:lstStyle/>
            <a:p>
              <a:r>
                <a:rPr lang="en-US" sz="1200" dirty="0"/>
                <a:t>Cited on every ecology and evolution book</a:t>
              </a:r>
            </a:p>
          </p:txBody>
        </p:sp>
      </p:grpSp>
      <p:grpSp>
        <p:nvGrpSpPr>
          <p:cNvPr id="30" name="Group 29">
            <a:extLst>
              <a:ext uri="{FF2B5EF4-FFF2-40B4-BE49-F238E27FC236}">
                <a16:creationId xmlns:a16="http://schemas.microsoft.com/office/drawing/2014/main" id="{68593D09-0174-4D81-B0AF-EEABCB6D2D64}"/>
              </a:ext>
            </a:extLst>
          </p:cNvPr>
          <p:cNvGrpSpPr/>
          <p:nvPr/>
        </p:nvGrpSpPr>
        <p:grpSpPr>
          <a:xfrm>
            <a:off x="7641433" y="1391760"/>
            <a:ext cx="1844001" cy="508615"/>
            <a:chOff x="10415589" y="1827526"/>
            <a:chExt cx="2458668" cy="678154"/>
          </a:xfrm>
        </p:grpSpPr>
        <p:sp>
          <p:nvSpPr>
            <p:cNvPr id="26" name="TextBox 25">
              <a:extLst>
                <a:ext uri="{FF2B5EF4-FFF2-40B4-BE49-F238E27FC236}">
                  <a16:creationId xmlns:a16="http://schemas.microsoft.com/office/drawing/2014/main" id="{B3680C4B-9FAE-49A6-8008-E6D9A6BB7746}"/>
                </a:ext>
              </a:extLst>
            </p:cNvPr>
            <p:cNvSpPr txBox="1"/>
            <p:nvPr/>
          </p:nvSpPr>
          <p:spPr>
            <a:xfrm>
              <a:off x="11128322" y="1890126"/>
              <a:ext cx="1745935" cy="615554"/>
            </a:xfrm>
            <a:prstGeom prst="rect">
              <a:avLst/>
            </a:prstGeom>
            <a:noFill/>
          </p:spPr>
          <p:txBody>
            <a:bodyPr wrap="square" rtlCol="0">
              <a:spAutoFit/>
            </a:bodyPr>
            <a:lstStyle/>
            <a:p>
              <a:r>
                <a:rPr lang="en-US" sz="1200" b="1" dirty="0">
                  <a:solidFill>
                    <a:srgbClr val="FFFF00"/>
                  </a:solidFill>
                </a:rPr>
                <a:t>Panama Isthmus</a:t>
              </a:r>
            </a:p>
          </p:txBody>
        </p:sp>
        <p:cxnSp>
          <p:nvCxnSpPr>
            <p:cNvPr id="27" name="Straight Arrow Connector 26">
              <a:extLst>
                <a:ext uri="{FF2B5EF4-FFF2-40B4-BE49-F238E27FC236}">
                  <a16:creationId xmlns:a16="http://schemas.microsoft.com/office/drawing/2014/main" id="{59B72E40-B4BC-4990-AAFB-59D65A966A30}"/>
                </a:ext>
              </a:extLst>
            </p:cNvPr>
            <p:cNvCxnSpPr>
              <a:cxnSpLocks/>
            </p:cNvCxnSpPr>
            <p:nvPr/>
          </p:nvCxnSpPr>
          <p:spPr>
            <a:xfrm flipH="1" flipV="1">
              <a:off x="10415589" y="1827526"/>
              <a:ext cx="981074" cy="42862"/>
            </a:xfrm>
            <a:prstGeom prst="straightConnector1">
              <a:avLst/>
            </a:prstGeom>
            <a:ln w="76200">
              <a:solidFill>
                <a:srgbClr val="FFFF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31" name="TextBox 30">
            <a:extLst>
              <a:ext uri="{FF2B5EF4-FFF2-40B4-BE49-F238E27FC236}">
                <a16:creationId xmlns:a16="http://schemas.microsoft.com/office/drawing/2014/main" id="{0F7AB4C1-B814-473C-B71F-80F5F62ECF6B}"/>
              </a:ext>
            </a:extLst>
          </p:cNvPr>
          <p:cNvSpPr txBox="1"/>
          <p:nvPr/>
        </p:nvSpPr>
        <p:spPr>
          <a:xfrm>
            <a:off x="6412130" y="5031253"/>
            <a:ext cx="2481839" cy="646331"/>
          </a:xfrm>
          <a:prstGeom prst="rect">
            <a:avLst/>
          </a:prstGeom>
          <a:noFill/>
        </p:spPr>
        <p:txBody>
          <a:bodyPr wrap="square" rtlCol="0">
            <a:spAutoFit/>
          </a:bodyPr>
          <a:lstStyle/>
          <a:p>
            <a:pPr algn="ctr"/>
            <a:r>
              <a:rPr lang="en-US" sz="1200" b="1" dirty="0"/>
              <a:t>Big discoveries not always are complicated, and can come from the most trivial of places.</a:t>
            </a:r>
          </a:p>
        </p:txBody>
      </p:sp>
    </p:spTree>
    <p:extLst>
      <p:ext uri="{BB962C8B-B14F-4D97-AF65-F5344CB8AC3E}">
        <p14:creationId xmlns:p14="http://schemas.microsoft.com/office/powerpoint/2010/main" val="45703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p:cTn id="18" dur="500" fill="hold"/>
                                        <p:tgtEl>
                                          <p:spTgt spid="6"/>
                                        </p:tgtEl>
                                        <p:attrNameLst>
                                          <p:attrName>ppt_w</p:attrName>
                                        </p:attrNameLst>
                                      </p:cBhvr>
                                      <p:tavLst>
                                        <p:tav tm="0">
                                          <p:val>
                                            <p:fltVal val="0"/>
                                          </p:val>
                                        </p:tav>
                                        <p:tav tm="100000">
                                          <p:val>
                                            <p:strVal val="#ppt_w"/>
                                          </p:val>
                                        </p:tav>
                                      </p:tavLst>
                                    </p:anim>
                                    <p:anim calcmode="lin" valueType="num">
                                      <p:cBhvr>
                                        <p:cTn id="19" dur="500" fill="hold"/>
                                        <p:tgtEl>
                                          <p:spTgt spid="6"/>
                                        </p:tgtEl>
                                        <p:attrNameLst>
                                          <p:attrName>ppt_h</p:attrName>
                                        </p:attrNameLst>
                                      </p:cBhvr>
                                      <p:tavLst>
                                        <p:tav tm="0">
                                          <p:val>
                                            <p:fltVal val="0"/>
                                          </p:val>
                                        </p:tav>
                                        <p:tav tm="100000">
                                          <p:val>
                                            <p:strVal val="#ppt_h"/>
                                          </p:val>
                                        </p:tav>
                                      </p:tavLst>
                                    </p:anim>
                                    <p:animEffect transition="in" filter="fade">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p:cTn id="25" dur="500" fill="hold"/>
                                        <p:tgtEl>
                                          <p:spTgt spid="7"/>
                                        </p:tgtEl>
                                        <p:attrNameLst>
                                          <p:attrName>ppt_w</p:attrName>
                                        </p:attrNameLst>
                                      </p:cBhvr>
                                      <p:tavLst>
                                        <p:tav tm="0">
                                          <p:val>
                                            <p:fltVal val="0"/>
                                          </p:val>
                                        </p:tav>
                                        <p:tav tm="100000">
                                          <p:val>
                                            <p:strVal val="#ppt_w"/>
                                          </p:val>
                                        </p:tav>
                                      </p:tavLst>
                                    </p:anim>
                                    <p:anim calcmode="lin" valueType="num">
                                      <p:cBhvr>
                                        <p:cTn id="26" dur="500" fill="hold"/>
                                        <p:tgtEl>
                                          <p:spTgt spid="7"/>
                                        </p:tgtEl>
                                        <p:attrNameLst>
                                          <p:attrName>ppt_h</p:attrName>
                                        </p:attrNameLst>
                                      </p:cBhvr>
                                      <p:tavLst>
                                        <p:tav tm="0">
                                          <p:val>
                                            <p:fltVal val="0"/>
                                          </p:val>
                                        </p:tav>
                                        <p:tav tm="100000">
                                          <p:val>
                                            <p:strVal val="#ppt_h"/>
                                          </p:val>
                                        </p:tav>
                                      </p:tavLst>
                                    </p:anim>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37"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barn(outVertical)">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nodeType="click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wipe(right)">
                                      <p:cBhvr>
                                        <p:cTn id="37" dur="500"/>
                                        <p:tgtEl>
                                          <p:spTgt spid="3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wipe(left)">
                                      <p:cBhvr>
                                        <p:cTn id="42" dur="500"/>
                                        <p:tgtEl>
                                          <p:spTgt spid="4"/>
                                        </p:tgtEl>
                                      </p:cBhvr>
                                    </p:animEffect>
                                  </p:childTnLst>
                                </p:cTn>
                              </p:par>
                            </p:childTnLst>
                          </p:cTn>
                        </p:par>
                      </p:childTnLst>
                    </p:cTn>
                  </p:par>
                  <p:par>
                    <p:cTn id="43" fill="hold">
                      <p:stCondLst>
                        <p:cond delay="indefinite"/>
                      </p:stCondLst>
                      <p:childTnLst>
                        <p:par>
                          <p:cTn id="44" fill="hold">
                            <p:stCondLst>
                              <p:cond delay="0"/>
                            </p:stCondLst>
                            <p:childTnLst>
                              <p:par>
                                <p:cTn id="45" presetID="53" presetClass="entr" presetSubtype="16" fill="hold" nodeType="clickEffect">
                                  <p:stCondLst>
                                    <p:cond delay="0"/>
                                  </p:stCondLst>
                                  <p:childTnLst>
                                    <p:set>
                                      <p:cBhvr>
                                        <p:cTn id="46" dur="1" fill="hold">
                                          <p:stCondLst>
                                            <p:cond delay="0"/>
                                          </p:stCondLst>
                                        </p:cTn>
                                        <p:tgtEl>
                                          <p:spTgt spid="23"/>
                                        </p:tgtEl>
                                        <p:attrNameLst>
                                          <p:attrName>style.visibility</p:attrName>
                                        </p:attrNameLst>
                                      </p:cBhvr>
                                      <p:to>
                                        <p:strVal val="visible"/>
                                      </p:to>
                                    </p:set>
                                    <p:anim calcmode="lin" valueType="num">
                                      <p:cBhvr>
                                        <p:cTn id="47" dur="500" fill="hold"/>
                                        <p:tgtEl>
                                          <p:spTgt spid="23"/>
                                        </p:tgtEl>
                                        <p:attrNameLst>
                                          <p:attrName>ppt_w</p:attrName>
                                        </p:attrNameLst>
                                      </p:cBhvr>
                                      <p:tavLst>
                                        <p:tav tm="0">
                                          <p:val>
                                            <p:fltVal val="0"/>
                                          </p:val>
                                        </p:tav>
                                        <p:tav tm="100000">
                                          <p:val>
                                            <p:strVal val="#ppt_w"/>
                                          </p:val>
                                        </p:tav>
                                      </p:tavLst>
                                    </p:anim>
                                    <p:anim calcmode="lin" valueType="num">
                                      <p:cBhvr>
                                        <p:cTn id="48" dur="500" fill="hold"/>
                                        <p:tgtEl>
                                          <p:spTgt spid="23"/>
                                        </p:tgtEl>
                                        <p:attrNameLst>
                                          <p:attrName>ppt_h</p:attrName>
                                        </p:attrNameLst>
                                      </p:cBhvr>
                                      <p:tavLst>
                                        <p:tav tm="0">
                                          <p:val>
                                            <p:fltVal val="0"/>
                                          </p:val>
                                        </p:tav>
                                        <p:tav tm="100000">
                                          <p:val>
                                            <p:strVal val="#ppt_h"/>
                                          </p:val>
                                        </p:tav>
                                      </p:tavLst>
                                    </p:anim>
                                    <p:animEffect transition="in" filter="fade">
                                      <p:cBhvr>
                                        <p:cTn id="49" dur="500"/>
                                        <p:tgtEl>
                                          <p:spTgt spid="23"/>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wipe(left)">
                                      <p:cBhvr>
                                        <p:cTn id="54" dur="500"/>
                                        <p:tgtEl>
                                          <p:spTgt spid="24"/>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wipe(left)">
                                      <p:cBhvr>
                                        <p:cTn id="59" dur="500"/>
                                        <p:tgtEl>
                                          <p:spTgt spid="25"/>
                                        </p:tgtEl>
                                      </p:cBhvr>
                                    </p:animEffect>
                                  </p:childTnLst>
                                </p:cTn>
                              </p:par>
                            </p:childTnLst>
                          </p:cTn>
                        </p:par>
                      </p:childTnLst>
                    </p:cTn>
                  </p:par>
                  <p:par>
                    <p:cTn id="60" fill="hold">
                      <p:stCondLst>
                        <p:cond delay="indefinite"/>
                      </p:stCondLst>
                      <p:childTnLst>
                        <p:par>
                          <p:cTn id="61" fill="hold">
                            <p:stCondLst>
                              <p:cond delay="0"/>
                            </p:stCondLst>
                            <p:childTnLst>
                              <p:par>
                                <p:cTn id="62" presetID="53" presetClass="entr" presetSubtype="16" fill="hold" grpId="0" nodeType="clickEffect">
                                  <p:stCondLst>
                                    <p:cond delay="0"/>
                                  </p:stCondLst>
                                  <p:childTnLst>
                                    <p:set>
                                      <p:cBhvr>
                                        <p:cTn id="63" dur="1" fill="hold">
                                          <p:stCondLst>
                                            <p:cond delay="0"/>
                                          </p:stCondLst>
                                        </p:cTn>
                                        <p:tgtEl>
                                          <p:spTgt spid="31"/>
                                        </p:tgtEl>
                                        <p:attrNameLst>
                                          <p:attrName>style.visibility</p:attrName>
                                        </p:attrNameLst>
                                      </p:cBhvr>
                                      <p:to>
                                        <p:strVal val="visible"/>
                                      </p:to>
                                    </p:set>
                                    <p:anim calcmode="lin" valueType="num">
                                      <p:cBhvr>
                                        <p:cTn id="64" dur="500" fill="hold"/>
                                        <p:tgtEl>
                                          <p:spTgt spid="31"/>
                                        </p:tgtEl>
                                        <p:attrNameLst>
                                          <p:attrName>ppt_w</p:attrName>
                                        </p:attrNameLst>
                                      </p:cBhvr>
                                      <p:tavLst>
                                        <p:tav tm="0">
                                          <p:val>
                                            <p:fltVal val="0"/>
                                          </p:val>
                                        </p:tav>
                                        <p:tav tm="100000">
                                          <p:val>
                                            <p:strVal val="#ppt_w"/>
                                          </p:val>
                                        </p:tav>
                                      </p:tavLst>
                                    </p:anim>
                                    <p:anim calcmode="lin" valueType="num">
                                      <p:cBhvr>
                                        <p:cTn id="65" dur="500" fill="hold"/>
                                        <p:tgtEl>
                                          <p:spTgt spid="31"/>
                                        </p:tgtEl>
                                        <p:attrNameLst>
                                          <p:attrName>ppt_h</p:attrName>
                                        </p:attrNameLst>
                                      </p:cBhvr>
                                      <p:tavLst>
                                        <p:tav tm="0">
                                          <p:val>
                                            <p:fltVal val="0"/>
                                          </p:val>
                                        </p:tav>
                                        <p:tav tm="100000">
                                          <p:val>
                                            <p:strVal val="#ppt_h"/>
                                          </p:val>
                                        </p:tav>
                                      </p:tavLst>
                                    </p:anim>
                                    <p:animEffect transition="in" filter="fade">
                                      <p:cBhvr>
                                        <p:cTn id="66"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3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2"/>
          <p:cNvSpPr txBox="1">
            <a:spLocks noChangeArrowheads="1"/>
          </p:cNvSpPr>
          <p:nvPr/>
        </p:nvSpPr>
        <p:spPr bwMode="auto">
          <a:xfrm>
            <a:off x="0" y="0"/>
            <a:ext cx="9144000" cy="307777"/>
          </a:xfrm>
          <a:prstGeom prst="rect">
            <a:avLst/>
          </a:prstGeom>
          <a:solidFill>
            <a:schemeClr val="bg1">
              <a:lumMod val="75000"/>
            </a:schemeClr>
          </a:solid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r>
              <a:rPr lang="en-US" sz="1400" b="1" dirty="0">
                <a:latin typeface="Times New Roman" pitchFamily="18" charset="0"/>
              </a:rPr>
              <a:t>As statement of fact: marine and terrestrial biodiversity are being loss at a global scale</a:t>
            </a:r>
          </a:p>
        </p:txBody>
      </p:sp>
      <p:sp>
        <p:nvSpPr>
          <p:cNvPr id="4099" name="Text Box 3"/>
          <p:cNvSpPr txBox="1">
            <a:spLocks noChangeArrowheads="1"/>
          </p:cNvSpPr>
          <p:nvPr/>
        </p:nvSpPr>
        <p:spPr bwMode="auto">
          <a:xfrm>
            <a:off x="898525" y="1874838"/>
            <a:ext cx="6492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endParaRPr lang="en-US" sz="2400">
              <a:latin typeface="Times New Roman" pitchFamily="18" charset="0"/>
            </a:endParaRPr>
          </a:p>
        </p:txBody>
      </p:sp>
      <p:grpSp>
        <p:nvGrpSpPr>
          <p:cNvPr id="70660" name="Group 4"/>
          <p:cNvGrpSpPr>
            <a:grpSpLocks/>
          </p:cNvGrpSpPr>
          <p:nvPr/>
        </p:nvGrpSpPr>
        <p:grpSpPr bwMode="auto">
          <a:xfrm>
            <a:off x="6761163" y="503238"/>
            <a:ext cx="2162175" cy="5684837"/>
            <a:chOff x="4259" y="557"/>
            <a:chExt cx="1362" cy="3581"/>
          </a:xfrm>
        </p:grpSpPr>
        <p:pic>
          <p:nvPicPr>
            <p:cNvPr id="4116" name="Picture 5" descr="rfnativ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8" y="557"/>
              <a:ext cx="1333" cy="1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7" name="Picture 6" descr="algae_rubble_small"/>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8" y="1776"/>
              <a:ext cx="1333" cy="1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8"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59" y="2995"/>
              <a:ext cx="1345" cy="1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101" name="Group 8"/>
          <p:cNvGrpSpPr>
            <a:grpSpLocks/>
          </p:cNvGrpSpPr>
          <p:nvPr/>
        </p:nvGrpSpPr>
        <p:grpSpPr bwMode="auto">
          <a:xfrm>
            <a:off x="152400" y="457200"/>
            <a:ext cx="2160588" cy="5670550"/>
            <a:chOff x="96" y="528"/>
            <a:chExt cx="1361" cy="3572"/>
          </a:xfrm>
        </p:grpSpPr>
        <p:pic>
          <p:nvPicPr>
            <p:cNvPr id="4113" name="Picture 9" descr="amazonas"/>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 y="528"/>
              <a:ext cx="1361" cy="1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4"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6" y="1747"/>
              <a:ext cx="1361" cy="1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5" name="Picture 11"/>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96" y="2966"/>
              <a:ext cx="1361" cy="1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70668" name="Line 12"/>
          <p:cNvSpPr>
            <a:spLocks noChangeShapeType="1"/>
          </p:cNvSpPr>
          <p:nvPr/>
        </p:nvSpPr>
        <p:spPr bwMode="auto">
          <a:xfrm>
            <a:off x="2349500" y="3213100"/>
            <a:ext cx="4419600" cy="12700"/>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grpSp>
        <p:nvGrpSpPr>
          <p:cNvPr id="70669" name="Group 13"/>
          <p:cNvGrpSpPr>
            <a:grpSpLocks/>
          </p:cNvGrpSpPr>
          <p:nvPr/>
        </p:nvGrpSpPr>
        <p:grpSpPr bwMode="auto">
          <a:xfrm>
            <a:off x="2273300" y="1238250"/>
            <a:ext cx="4546600" cy="4165600"/>
            <a:chOff x="1432" y="1020"/>
            <a:chExt cx="2864" cy="2624"/>
          </a:xfrm>
        </p:grpSpPr>
        <p:sp>
          <p:nvSpPr>
            <p:cNvPr id="4107" name="Freeform 14"/>
            <p:cNvSpPr>
              <a:spLocks/>
            </p:cNvSpPr>
            <p:nvPr/>
          </p:nvSpPr>
          <p:spPr bwMode="auto">
            <a:xfrm>
              <a:off x="1432" y="1020"/>
              <a:ext cx="2840" cy="1153"/>
            </a:xfrm>
            <a:custGeom>
              <a:avLst/>
              <a:gdLst>
                <a:gd name="T0" fmla="*/ 0 w 2840"/>
                <a:gd name="T1" fmla="*/ 12 h 1153"/>
                <a:gd name="T2" fmla="*/ 744 w 2840"/>
                <a:gd name="T3" fmla="*/ 220 h 1153"/>
                <a:gd name="T4" fmla="*/ 1440 w 2840"/>
                <a:gd name="T5" fmla="*/ 1148 h 1153"/>
                <a:gd name="T6" fmla="*/ 2064 w 2840"/>
                <a:gd name="T7" fmla="*/ 188 h 1153"/>
                <a:gd name="T8" fmla="*/ 2840 w 2840"/>
                <a:gd name="T9" fmla="*/ 20 h 11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40" h="1153">
                  <a:moveTo>
                    <a:pt x="0" y="12"/>
                  </a:moveTo>
                  <a:cubicBezTo>
                    <a:pt x="124" y="48"/>
                    <a:pt x="504" y="31"/>
                    <a:pt x="744" y="220"/>
                  </a:cubicBezTo>
                  <a:cubicBezTo>
                    <a:pt x="984" y="409"/>
                    <a:pt x="1220" y="1153"/>
                    <a:pt x="1440" y="1148"/>
                  </a:cubicBezTo>
                  <a:cubicBezTo>
                    <a:pt x="1660" y="1143"/>
                    <a:pt x="1831" y="376"/>
                    <a:pt x="2064" y="188"/>
                  </a:cubicBezTo>
                  <a:cubicBezTo>
                    <a:pt x="2297" y="0"/>
                    <a:pt x="2678" y="55"/>
                    <a:pt x="2840" y="20"/>
                  </a:cubicBezTo>
                </a:path>
              </a:pathLst>
            </a:custGeom>
            <a:noFill/>
            <a:ln w="57150" cmpd="sng">
              <a:solidFill>
                <a:srgbClr val="FF00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108" name="Freeform 15"/>
            <p:cNvSpPr>
              <a:spLocks/>
            </p:cNvSpPr>
            <p:nvPr/>
          </p:nvSpPr>
          <p:spPr bwMode="auto">
            <a:xfrm flipV="1">
              <a:off x="1456" y="2381"/>
              <a:ext cx="2840" cy="1263"/>
            </a:xfrm>
            <a:custGeom>
              <a:avLst/>
              <a:gdLst>
                <a:gd name="T0" fmla="*/ 0 w 2840"/>
                <a:gd name="T1" fmla="*/ 16 h 1153"/>
                <a:gd name="T2" fmla="*/ 744 w 2840"/>
                <a:gd name="T3" fmla="*/ 317 h 1153"/>
                <a:gd name="T4" fmla="*/ 1440 w 2840"/>
                <a:gd name="T5" fmla="*/ 1653 h 1153"/>
                <a:gd name="T6" fmla="*/ 2064 w 2840"/>
                <a:gd name="T7" fmla="*/ 272 h 1153"/>
                <a:gd name="T8" fmla="*/ 2840 w 2840"/>
                <a:gd name="T9" fmla="*/ 28 h 11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40" h="1153">
                  <a:moveTo>
                    <a:pt x="0" y="12"/>
                  </a:moveTo>
                  <a:cubicBezTo>
                    <a:pt x="124" y="48"/>
                    <a:pt x="504" y="31"/>
                    <a:pt x="744" y="220"/>
                  </a:cubicBezTo>
                  <a:cubicBezTo>
                    <a:pt x="984" y="409"/>
                    <a:pt x="1220" y="1153"/>
                    <a:pt x="1440" y="1148"/>
                  </a:cubicBezTo>
                  <a:cubicBezTo>
                    <a:pt x="1660" y="1143"/>
                    <a:pt x="1831" y="376"/>
                    <a:pt x="2064" y="188"/>
                  </a:cubicBezTo>
                  <a:cubicBezTo>
                    <a:pt x="2297" y="0"/>
                    <a:pt x="2678" y="55"/>
                    <a:pt x="2840" y="20"/>
                  </a:cubicBezTo>
                </a:path>
              </a:pathLst>
            </a:custGeom>
            <a:noFill/>
            <a:ln w="57150" cmpd="sng">
              <a:solidFill>
                <a:srgbClr val="FF00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109" name="Text Box 16"/>
            <p:cNvSpPr txBox="1">
              <a:spLocks noChangeArrowheads="1"/>
            </p:cNvSpPr>
            <p:nvPr/>
          </p:nvSpPr>
          <p:spPr bwMode="auto">
            <a:xfrm>
              <a:off x="2240" y="1720"/>
              <a:ext cx="1157" cy="109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r>
                <a:rPr lang="en-US"/>
                <a:t>Habitat loss</a:t>
              </a:r>
            </a:p>
            <a:p>
              <a:pPr algn="ctr" eaLnBrk="1" hangingPunct="1"/>
              <a:r>
                <a:rPr lang="en-US"/>
                <a:t>Overexploitation</a:t>
              </a:r>
            </a:p>
            <a:p>
              <a:pPr algn="ctr" eaLnBrk="1" hangingPunct="1"/>
              <a:r>
                <a:rPr lang="en-US"/>
                <a:t>Climate change</a:t>
              </a:r>
            </a:p>
            <a:p>
              <a:pPr algn="ctr" eaLnBrk="1" hangingPunct="1"/>
              <a:r>
                <a:rPr lang="en-US"/>
                <a:t>…</a:t>
              </a:r>
            </a:p>
            <a:p>
              <a:pPr algn="ctr" eaLnBrk="1" hangingPunct="1"/>
              <a:r>
                <a:rPr lang="en-US"/>
                <a:t>…</a:t>
              </a:r>
            </a:p>
            <a:p>
              <a:pPr algn="ctr" eaLnBrk="1" hangingPunct="1"/>
              <a:r>
                <a:rPr lang="en-US"/>
                <a:t>…</a:t>
              </a:r>
              <a:endParaRPr lang="es-ES"/>
            </a:p>
          </p:txBody>
        </p:sp>
        <p:sp>
          <p:nvSpPr>
            <p:cNvPr id="4110" name="Line 17"/>
            <p:cNvSpPr>
              <a:spLocks noChangeShapeType="1"/>
            </p:cNvSpPr>
            <p:nvPr/>
          </p:nvSpPr>
          <p:spPr bwMode="auto">
            <a:xfrm>
              <a:off x="2504" y="1712"/>
              <a:ext cx="32" cy="40"/>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111" name="Line 18"/>
            <p:cNvSpPr>
              <a:spLocks noChangeShapeType="1"/>
            </p:cNvSpPr>
            <p:nvPr/>
          </p:nvSpPr>
          <p:spPr bwMode="auto">
            <a:xfrm flipV="1">
              <a:off x="2200" y="2248"/>
              <a:ext cx="112" cy="8"/>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112" name="Line 19"/>
            <p:cNvSpPr>
              <a:spLocks noChangeShapeType="1"/>
            </p:cNvSpPr>
            <p:nvPr/>
          </p:nvSpPr>
          <p:spPr bwMode="auto">
            <a:xfrm flipV="1">
              <a:off x="2544" y="2728"/>
              <a:ext cx="56" cy="96"/>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grpSp>
      <p:grpSp>
        <p:nvGrpSpPr>
          <p:cNvPr id="70676" name="Group 20"/>
          <p:cNvGrpSpPr>
            <a:grpSpLocks/>
          </p:cNvGrpSpPr>
          <p:nvPr/>
        </p:nvGrpSpPr>
        <p:grpSpPr bwMode="auto">
          <a:xfrm>
            <a:off x="2311400" y="1282700"/>
            <a:ext cx="4470400" cy="4102100"/>
            <a:chOff x="1456" y="1048"/>
            <a:chExt cx="2816" cy="2584"/>
          </a:xfrm>
        </p:grpSpPr>
        <p:sp>
          <p:nvSpPr>
            <p:cNvPr id="4105" name="Line 21"/>
            <p:cNvSpPr>
              <a:spLocks noChangeShapeType="1"/>
            </p:cNvSpPr>
            <p:nvPr/>
          </p:nvSpPr>
          <p:spPr bwMode="auto">
            <a:xfrm>
              <a:off x="1456" y="1048"/>
              <a:ext cx="2784" cy="8"/>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106" name="Line 22"/>
            <p:cNvSpPr>
              <a:spLocks noChangeShapeType="1"/>
            </p:cNvSpPr>
            <p:nvPr/>
          </p:nvSpPr>
          <p:spPr bwMode="auto">
            <a:xfrm>
              <a:off x="1488" y="3624"/>
              <a:ext cx="2784" cy="8"/>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grpSp>
    </p:spTree>
    <p:extLst>
      <p:ext uri="{BB962C8B-B14F-4D97-AF65-F5344CB8AC3E}">
        <p14:creationId xmlns:p14="http://schemas.microsoft.com/office/powerpoint/2010/main" val="5507238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0668"/>
                                        </p:tgtEl>
                                        <p:attrNameLst>
                                          <p:attrName>style.visibility</p:attrName>
                                        </p:attrNameLst>
                                      </p:cBhvr>
                                      <p:to>
                                        <p:strVal val="visible"/>
                                      </p:to>
                                    </p:set>
                                    <p:animEffect transition="in" filter="wipe(left)">
                                      <p:cBhvr>
                                        <p:cTn id="7" dur="500"/>
                                        <p:tgtEl>
                                          <p:spTgt spid="70668"/>
                                        </p:tgtEl>
                                      </p:cBhvr>
                                    </p:animEffect>
                                  </p:childTnLst>
                                </p:cTn>
                              </p:par>
                              <p:par>
                                <p:cTn id="8" presetID="22" presetClass="entr" presetSubtype="8" fill="hold" nodeType="withEffect">
                                  <p:stCondLst>
                                    <p:cond delay="0"/>
                                  </p:stCondLst>
                                  <p:childTnLst>
                                    <p:set>
                                      <p:cBhvr>
                                        <p:cTn id="9" dur="1" fill="hold">
                                          <p:stCondLst>
                                            <p:cond delay="0"/>
                                          </p:stCondLst>
                                        </p:cTn>
                                        <p:tgtEl>
                                          <p:spTgt spid="70676"/>
                                        </p:tgtEl>
                                        <p:attrNameLst>
                                          <p:attrName>style.visibility</p:attrName>
                                        </p:attrNameLst>
                                      </p:cBhvr>
                                      <p:to>
                                        <p:strVal val="visible"/>
                                      </p:to>
                                    </p:set>
                                    <p:animEffect transition="in" filter="wipe(left)">
                                      <p:cBhvr>
                                        <p:cTn id="10" dur="500"/>
                                        <p:tgtEl>
                                          <p:spTgt spid="70676"/>
                                        </p:tgtEl>
                                      </p:cBhvr>
                                    </p:animEffect>
                                  </p:childTnLst>
                                </p:cTn>
                              </p:par>
                            </p:childTnLst>
                          </p:cTn>
                        </p:par>
                        <p:par>
                          <p:cTn id="11" fill="hold" nodeType="afterGroup">
                            <p:stCondLst>
                              <p:cond delay="500"/>
                            </p:stCondLst>
                            <p:childTnLst>
                              <p:par>
                                <p:cTn id="12" presetID="1" presetClass="entr" presetSubtype="0" fill="hold" nodeType="afterEffect">
                                  <p:stCondLst>
                                    <p:cond delay="0"/>
                                  </p:stCondLst>
                                  <p:childTnLst>
                                    <p:set>
                                      <p:cBhvr>
                                        <p:cTn id="13" dur="1" fill="hold">
                                          <p:stCondLst>
                                            <p:cond delay="0"/>
                                          </p:stCondLst>
                                        </p:cTn>
                                        <p:tgtEl>
                                          <p:spTgt spid="70660"/>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xit" presetSubtype="0" fill="hold" nodeType="clickEffect">
                                  <p:stCondLst>
                                    <p:cond delay="0"/>
                                  </p:stCondLst>
                                  <p:childTnLst>
                                    <p:set>
                                      <p:cBhvr>
                                        <p:cTn id="17" dur="1" fill="hold">
                                          <p:stCondLst>
                                            <p:cond delay="0"/>
                                          </p:stCondLst>
                                        </p:cTn>
                                        <p:tgtEl>
                                          <p:spTgt spid="70676"/>
                                        </p:tgtEl>
                                        <p:attrNameLst>
                                          <p:attrName>style.visibility</p:attrName>
                                        </p:attrNameLst>
                                      </p:cBhvr>
                                      <p:to>
                                        <p:strVal val="hidden"/>
                                      </p:to>
                                    </p:set>
                                  </p:childTnLst>
                                </p:cTn>
                              </p:par>
                              <p:par>
                                <p:cTn id="18" presetID="22" presetClass="entr" presetSubtype="8" fill="hold" nodeType="withEffect">
                                  <p:stCondLst>
                                    <p:cond delay="0"/>
                                  </p:stCondLst>
                                  <p:childTnLst>
                                    <p:set>
                                      <p:cBhvr>
                                        <p:cTn id="19" dur="1" fill="hold">
                                          <p:stCondLst>
                                            <p:cond delay="0"/>
                                          </p:stCondLst>
                                        </p:cTn>
                                        <p:tgtEl>
                                          <p:spTgt spid="70669"/>
                                        </p:tgtEl>
                                        <p:attrNameLst>
                                          <p:attrName>style.visibility</p:attrName>
                                        </p:attrNameLst>
                                      </p:cBhvr>
                                      <p:to>
                                        <p:strVal val="visible"/>
                                      </p:to>
                                    </p:set>
                                    <p:animEffect transition="in" filter="wipe(left)">
                                      <p:cBhvr>
                                        <p:cTn id="20" dur="1000"/>
                                        <p:tgtEl>
                                          <p:spTgt spid="706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Box 29"/>
          <p:cNvSpPr txBox="1"/>
          <p:nvPr/>
        </p:nvSpPr>
        <p:spPr>
          <a:xfrm>
            <a:off x="-93785" y="442913"/>
            <a:ext cx="9144000" cy="307777"/>
          </a:xfrm>
          <a:prstGeom prst="rect">
            <a:avLst/>
          </a:prstGeom>
          <a:solidFill>
            <a:schemeClr val="bg1">
              <a:lumMod val="65000"/>
            </a:schemeClr>
          </a:solidFill>
        </p:spPr>
        <p:txBody>
          <a:bodyPr>
            <a:spAutoFit/>
          </a:bodyPr>
          <a:lstStyle/>
          <a:p>
            <a:pPr algn="ctr" fontAlgn="auto">
              <a:spcBef>
                <a:spcPts val="0"/>
              </a:spcBef>
              <a:spcAft>
                <a:spcPts val="0"/>
              </a:spcAft>
              <a:defRPr/>
            </a:pPr>
            <a:r>
              <a:rPr lang="en-US" sz="1400" b="1" dirty="0">
                <a:latin typeface="+mn-lt"/>
                <a:cs typeface="+mn-cs"/>
              </a:rPr>
              <a:t>And the statistics are staggering</a:t>
            </a:r>
          </a:p>
        </p:txBody>
      </p:sp>
      <p:sp>
        <p:nvSpPr>
          <p:cNvPr id="29" name="TextBox 28"/>
          <p:cNvSpPr txBox="1">
            <a:spLocks noChangeArrowheads="1"/>
          </p:cNvSpPr>
          <p:nvPr/>
        </p:nvSpPr>
        <p:spPr bwMode="auto">
          <a:xfrm>
            <a:off x="160682" y="1166256"/>
            <a:ext cx="8907118" cy="4167744"/>
          </a:xfrm>
          <a:prstGeom prst="rect">
            <a:avLst/>
          </a:prstGeom>
          <a:solidFill>
            <a:schemeClr val="bg1"/>
          </a:solidFill>
          <a:ln w="9525">
            <a:solidFill>
              <a:schemeClr val="bg1"/>
            </a:solidFill>
            <a:miter lim="800000"/>
            <a:headEnd/>
            <a:tailEnd/>
          </a:ln>
        </p:spPr>
        <p:txBody>
          <a:bodyPr wrap="none" lIns="0" tIns="0" rIns="0" bIns="0">
            <a:spAutoFit/>
          </a:bodyPr>
          <a:lstStyle>
            <a:lvl1pPr marL="171450" indent="-171450" eaLnBrk="0" hangingPunct="0">
              <a:defRPr>
                <a:solidFill>
                  <a:schemeClr val="tx1"/>
                </a:solidFill>
                <a:latin typeface="Calibri" pitchFamily="34" charset="0"/>
                <a:cs typeface="Arial" pitchFamily="34" charset="0"/>
              </a:defRPr>
            </a:lvl1pPr>
            <a:lvl2pPr marL="742950" indent="-285750" eaLnBrk="0" hangingPunct="0">
              <a:defRPr>
                <a:solidFill>
                  <a:schemeClr val="tx1"/>
                </a:solidFill>
                <a:latin typeface="Calibri" pitchFamily="34" charset="0"/>
                <a:cs typeface="Arial" pitchFamily="34" charset="0"/>
              </a:defRPr>
            </a:lvl2pPr>
            <a:lvl3pPr marL="1143000" indent="-228600" eaLnBrk="0" hangingPunct="0">
              <a:defRPr>
                <a:solidFill>
                  <a:schemeClr val="tx1"/>
                </a:solidFill>
                <a:latin typeface="Calibri" pitchFamily="34" charset="0"/>
                <a:cs typeface="Arial" pitchFamily="34" charset="0"/>
              </a:defRPr>
            </a:lvl3pPr>
            <a:lvl4pPr marL="1600200" indent="-228600" eaLnBrk="0" hangingPunct="0">
              <a:defRPr>
                <a:solidFill>
                  <a:schemeClr val="tx1"/>
                </a:solidFill>
                <a:latin typeface="Calibri" pitchFamily="34" charset="0"/>
                <a:cs typeface="Arial" pitchFamily="34" charset="0"/>
              </a:defRPr>
            </a:lvl4pPr>
            <a:lvl5pPr marL="2057400" indent="-228600" eaLnBrk="0" hangingPunct="0">
              <a:defRPr>
                <a:solidFill>
                  <a:schemeClr val="tx1"/>
                </a:solidFill>
                <a:latin typeface="Calibri" pitchFamily="34" charset="0"/>
                <a:cs typeface="Arial" pitchFamily="34" charset="0"/>
              </a:defRPr>
            </a:lvl5pPr>
            <a:lvl6pPr marL="2514600" indent="-228600" eaLnBrk="0" fontAlgn="base" hangingPunct="0">
              <a:spcBef>
                <a:spcPct val="0"/>
              </a:spcBef>
              <a:spcAft>
                <a:spcPct val="0"/>
              </a:spcAft>
              <a:defRPr>
                <a:solidFill>
                  <a:schemeClr val="tx1"/>
                </a:solidFill>
                <a:latin typeface="Calibri" pitchFamily="34" charset="0"/>
                <a:cs typeface="Arial" pitchFamily="34" charset="0"/>
              </a:defRPr>
            </a:lvl6pPr>
            <a:lvl7pPr marL="2971800" indent="-228600" eaLnBrk="0" fontAlgn="base" hangingPunct="0">
              <a:spcBef>
                <a:spcPct val="0"/>
              </a:spcBef>
              <a:spcAft>
                <a:spcPct val="0"/>
              </a:spcAft>
              <a:defRPr>
                <a:solidFill>
                  <a:schemeClr val="tx1"/>
                </a:solidFill>
                <a:latin typeface="Calibri" pitchFamily="34" charset="0"/>
                <a:cs typeface="Arial" pitchFamily="34" charset="0"/>
              </a:defRPr>
            </a:lvl7pPr>
            <a:lvl8pPr marL="3429000" indent="-228600" eaLnBrk="0" fontAlgn="base" hangingPunct="0">
              <a:spcBef>
                <a:spcPct val="0"/>
              </a:spcBef>
              <a:spcAft>
                <a:spcPct val="0"/>
              </a:spcAft>
              <a:defRPr>
                <a:solidFill>
                  <a:schemeClr val="tx1"/>
                </a:solidFill>
                <a:latin typeface="Calibri" pitchFamily="34" charset="0"/>
                <a:cs typeface="Arial" pitchFamily="34" charset="0"/>
              </a:defRPr>
            </a:lvl8pPr>
            <a:lvl9pPr marL="3886200" indent="-228600" eaLnBrk="0" fontAlgn="base" hangingPunct="0">
              <a:spcBef>
                <a:spcPct val="0"/>
              </a:spcBef>
              <a:spcAft>
                <a:spcPct val="0"/>
              </a:spcAft>
              <a:defRPr>
                <a:solidFill>
                  <a:schemeClr val="tx1"/>
                </a:solidFill>
                <a:latin typeface="Calibri" pitchFamily="34" charset="0"/>
                <a:cs typeface="Arial" pitchFamily="34" charset="0"/>
              </a:defRPr>
            </a:lvl9pPr>
          </a:lstStyle>
          <a:p>
            <a:pPr eaLnBrk="1" hangingPunct="1">
              <a:lnSpc>
                <a:spcPct val="150000"/>
              </a:lnSpc>
              <a:buFont typeface="Wingdings" pitchFamily="2" charset="2"/>
              <a:buChar char="Ø"/>
            </a:pPr>
            <a:r>
              <a:rPr lang="en-US" sz="1400" dirty="0"/>
              <a:t>100% of the world’s oceans affected by human activities (</a:t>
            </a:r>
            <a:r>
              <a:rPr lang="en-US" sz="1400" u="sng" dirty="0">
                <a:solidFill>
                  <a:srgbClr val="0000FF"/>
                </a:solidFill>
              </a:rPr>
              <a:t>Halpern et al. Science 2008</a:t>
            </a:r>
            <a:r>
              <a:rPr lang="en-US" sz="1400" dirty="0"/>
              <a:t>)</a:t>
            </a:r>
          </a:p>
          <a:p>
            <a:pPr eaLnBrk="1" hangingPunct="1">
              <a:lnSpc>
                <a:spcPct val="150000"/>
              </a:lnSpc>
              <a:buFont typeface="Wingdings" pitchFamily="2" charset="2"/>
              <a:buChar char="Ø"/>
            </a:pPr>
            <a:r>
              <a:rPr lang="en-US" sz="1400" dirty="0"/>
              <a:t>83% of the world’s land affected by human activities (</a:t>
            </a:r>
            <a:r>
              <a:rPr lang="en-US" sz="1400" u="sng" dirty="0">
                <a:solidFill>
                  <a:srgbClr val="0000FF"/>
                </a:solidFill>
              </a:rPr>
              <a:t>Sanderson et al. </a:t>
            </a:r>
            <a:r>
              <a:rPr lang="en-US" sz="1400" u="sng" dirty="0" err="1">
                <a:solidFill>
                  <a:srgbClr val="0000FF"/>
                </a:solidFill>
              </a:rPr>
              <a:t>BioScience</a:t>
            </a:r>
            <a:r>
              <a:rPr lang="en-US" sz="1400" u="sng" dirty="0">
                <a:solidFill>
                  <a:srgbClr val="0000FF"/>
                </a:solidFill>
              </a:rPr>
              <a:t> 2002</a:t>
            </a:r>
            <a:r>
              <a:rPr lang="en-US" sz="1400" dirty="0"/>
              <a:t>)</a:t>
            </a:r>
          </a:p>
          <a:p>
            <a:pPr eaLnBrk="1" hangingPunct="1">
              <a:lnSpc>
                <a:spcPct val="150000"/>
              </a:lnSpc>
              <a:buFont typeface="Wingdings" pitchFamily="2" charset="2"/>
              <a:buChar char="Ø"/>
            </a:pPr>
            <a:r>
              <a:rPr lang="en-US" sz="1400" dirty="0"/>
              <a:t>6 million hectares of forest deforested annually (</a:t>
            </a:r>
            <a:r>
              <a:rPr lang="en-US" sz="1400" u="sng" dirty="0">
                <a:solidFill>
                  <a:srgbClr val="0000FF"/>
                </a:solidFill>
              </a:rPr>
              <a:t>Global Biodiversity outlook 2</a:t>
            </a:r>
            <a:r>
              <a:rPr lang="en-US" sz="1400" dirty="0"/>
              <a:t>)</a:t>
            </a:r>
          </a:p>
          <a:p>
            <a:pPr eaLnBrk="1" hangingPunct="1">
              <a:lnSpc>
                <a:spcPct val="150000"/>
              </a:lnSpc>
              <a:buFont typeface="Wingdings" pitchFamily="2" charset="2"/>
              <a:buChar char="Ø"/>
            </a:pPr>
            <a:r>
              <a:rPr lang="en-US" sz="1400" dirty="0"/>
              <a:t>Global mangroves declined from 18.8 million ha in 1980 to 15.2 million ha in 2000  (</a:t>
            </a:r>
            <a:r>
              <a:rPr lang="en-US" sz="1400" dirty="0">
                <a:hlinkClick r:id="rId3"/>
              </a:rPr>
              <a:t>The world’s mangroves 1980-2005</a:t>
            </a:r>
            <a:r>
              <a:rPr lang="en-US" sz="1400" dirty="0"/>
              <a:t>)</a:t>
            </a:r>
          </a:p>
          <a:p>
            <a:pPr eaLnBrk="1" hangingPunct="1">
              <a:lnSpc>
                <a:spcPct val="150000"/>
              </a:lnSpc>
              <a:buFont typeface="Wingdings" pitchFamily="2" charset="2"/>
              <a:buChar char="Ø"/>
            </a:pPr>
            <a:r>
              <a:rPr lang="en-US" sz="1400" dirty="0"/>
              <a:t>Sea-grasses are disappearing at 110 </a:t>
            </a:r>
            <a:r>
              <a:rPr lang="en-US" sz="1400" dirty="0" err="1"/>
              <a:t>km</a:t>
            </a:r>
            <a:r>
              <a:rPr lang="en-US" sz="1400" baseline="30000" dirty="0" err="1"/>
              <a:t>2</a:t>
            </a:r>
            <a:r>
              <a:rPr lang="en-US" sz="1400" dirty="0"/>
              <a:t>/</a:t>
            </a:r>
            <a:r>
              <a:rPr lang="en-US" sz="1400" dirty="0" err="1"/>
              <a:t>yr</a:t>
            </a:r>
            <a:r>
              <a:rPr lang="en-US" sz="1400" dirty="0"/>
              <a:t> since 1980. Globally, up to 29% are gone (</a:t>
            </a:r>
            <a:r>
              <a:rPr lang="en-US" sz="1400" u="sng" dirty="0" err="1">
                <a:solidFill>
                  <a:srgbClr val="0000FF"/>
                </a:solidFill>
              </a:rPr>
              <a:t>Waycott</a:t>
            </a:r>
            <a:r>
              <a:rPr lang="en-US" sz="1400" u="sng" dirty="0">
                <a:solidFill>
                  <a:srgbClr val="0000FF"/>
                </a:solidFill>
              </a:rPr>
              <a:t> et al. </a:t>
            </a:r>
            <a:r>
              <a:rPr lang="en-US" sz="1400" u="sng" dirty="0" err="1">
                <a:solidFill>
                  <a:srgbClr val="0000FF"/>
                </a:solidFill>
              </a:rPr>
              <a:t>PNAS</a:t>
            </a:r>
            <a:r>
              <a:rPr lang="en-US" sz="1400" u="sng" dirty="0">
                <a:solidFill>
                  <a:srgbClr val="0000FF"/>
                </a:solidFill>
              </a:rPr>
              <a:t> 2009</a:t>
            </a:r>
            <a:r>
              <a:rPr lang="en-US" sz="1400" dirty="0"/>
              <a:t>)</a:t>
            </a:r>
          </a:p>
          <a:p>
            <a:pPr eaLnBrk="1" hangingPunct="1">
              <a:lnSpc>
                <a:spcPct val="150000"/>
              </a:lnSpc>
              <a:buFont typeface="Wingdings" pitchFamily="2" charset="2"/>
              <a:buChar char="Ø"/>
            </a:pPr>
            <a:r>
              <a:rPr lang="en-US" sz="1400" dirty="0"/>
              <a:t>Caribbean coral reefs declined by 80% in three decades (</a:t>
            </a:r>
            <a:r>
              <a:rPr lang="en-US" sz="1400" u="sng" dirty="0">
                <a:solidFill>
                  <a:srgbClr val="0000FF"/>
                </a:solidFill>
              </a:rPr>
              <a:t>Gardner et al Science 2005</a:t>
            </a:r>
            <a:r>
              <a:rPr lang="en-US" sz="1400" dirty="0"/>
              <a:t>)</a:t>
            </a:r>
          </a:p>
          <a:p>
            <a:pPr eaLnBrk="1" hangingPunct="1">
              <a:lnSpc>
                <a:spcPct val="150000"/>
              </a:lnSpc>
              <a:buFont typeface="Wingdings" pitchFamily="2" charset="2"/>
              <a:buChar char="Ø"/>
            </a:pPr>
            <a:r>
              <a:rPr lang="en-US" sz="1400" dirty="0"/>
              <a:t>Indo-Pacific coral reefs decline at 0.72% per year since 1997 (</a:t>
            </a:r>
            <a:r>
              <a:rPr lang="en-US" sz="1400" u="sng" dirty="0">
                <a:solidFill>
                  <a:srgbClr val="0000FF"/>
                </a:solidFill>
              </a:rPr>
              <a:t>Bruno &amp; Selig, </a:t>
            </a:r>
            <a:r>
              <a:rPr lang="en-US" sz="1400" u="sng" dirty="0" err="1">
                <a:solidFill>
                  <a:srgbClr val="0000FF"/>
                </a:solidFill>
              </a:rPr>
              <a:t>PlosOne</a:t>
            </a:r>
            <a:r>
              <a:rPr lang="en-US" sz="1400" u="sng" dirty="0">
                <a:solidFill>
                  <a:srgbClr val="0000FF"/>
                </a:solidFill>
              </a:rPr>
              <a:t>, 2007</a:t>
            </a:r>
            <a:r>
              <a:rPr lang="en-US" sz="1400" dirty="0"/>
              <a:t>)</a:t>
            </a:r>
          </a:p>
          <a:p>
            <a:pPr eaLnBrk="1" hangingPunct="1">
              <a:lnSpc>
                <a:spcPct val="150000"/>
              </a:lnSpc>
              <a:buFont typeface="Wingdings" pitchFamily="2" charset="2"/>
              <a:buChar char="Ø"/>
            </a:pPr>
            <a:r>
              <a:rPr lang="en-US" sz="1400" dirty="0"/>
              <a:t>Large predatory fish declined by 90% since the </a:t>
            </a:r>
            <a:r>
              <a:rPr lang="en-US" sz="1400" dirty="0" err="1"/>
              <a:t>50’s</a:t>
            </a:r>
            <a:r>
              <a:rPr lang="en-US" sz="1400" dirty="0"/>
              <a:t> (</a:t>
            </a:r>
            <a:r>
              <a:rPr lang="en-US" sz="1400" u="sng" dirty="0">
                <a:solidFill>
                  <a:srgbClr val="0000FF"/>
                </a:solidFill>
              </a:rPr>
              <a:t>Myers &amp; Worm, Nature 2003</a:t>
            </a:r>
            <a:r>
              <a:rPr lang="en-US" sz="1400" dirty="0"/>
              <a:t>)</a:t>
            </a:r>
          </a:p>
          <a:p>
            <a:pPr eaLnBrk="1" hangingPunct="1">
              <a:lnSpc>
                <a:spcPct val="150000"/>
              </a:lnSpc>
              <a:buFont typeface="Wingdings" pitchFamily="2" charset="2"/>
              <a:buChar char="Ø"/>
            </a:pPr>
            <a:r>
              <a:rPr lang="en-US" sz="1400" dirty="0"/>
              <a:t>World’s fisheries could be lost by 2048 (</a:t>
            </a:r>
            <a:r>
              <a:rPr lang="en-US" sz="1400" u="sng" dirty="0">
                <a:solidFill>
                  <a:srgbClr val="0000FF"/>
                </a:solidFill>
              </a:rPr>
              <a:t>Worm et al., Science 2006</a:t>
            </a:r>
            <a:r>
              <a:rPr lang="en-US" sz="1400" dirty="0"/>
              <a:t>)</a:t>
            </a:r>
          </a:p>
          <a:p>
            <a:pPr eaLnBrk="1" hangingPunct="1">
              <a:lnSpc>
                <a:spcPct val="150000"/>
              </a:lnSpc>
              <a:buFont typeface="Wingdings" pitchFamily="2" charset="2"/>
              <a:buChar char="Ø"/>
            </a:pPr>
            <a:r>
              <a:rPr lang="en-US" sz="1400" dirty="0"/>
              <a:t>On average, some ~3000 monitored wild populations have declined by about 30% since 1970  (</a:t>
            </a:r>
            <a:r>
              <a:rPr lang="en-US" sz="1400" u="sng" dirty="0">
                <a:solidFill>
                  <a:srgbClr val="0000FF"/>
                </a:solidFill>
              </a:rPr>
              <a:t>Living Planet Index 2010</a:t>
            </a:r>
            <a:r>
              <a:rPr lang="en-US" sz="1400" dirty="0"/>
              <a:t>)</a:t>
            </a:r>
          </a:p>
          <a:p>
            <a:pPr eaLnBrk="1" hangingPunct="1">
              <a:lnSpc>
                <a:spcPct val="150000"/>
              </a:lnSpc>
              <a:buFont typeface="Wingdings" pitchFamily="2" charset="2"/>
              <a:buChar char="Ø"/>
            </a:pPr>
            <a:r>
              <a:rPr lang="en-US" sz="1400" dirty="0"/>
              <a:t>One third of the world’s corals are threatened with extinction (</a:t>
            </a:r>
            <a:r>
              <a:rPr lang="en-US" sz="1400" u="sng" dirty="0">
                <a:solidFill>
                  <a:srgbClr val="0000FF"/>
                </a:solidFill>
              </a:rPr>
              <a:t>Carpenter et al., Science 2008</a:t>
            </a:r>
            <a:r>
              <a:rPr lang="en-US" sz="1400" dirty="0"/>
              <a:t>)</a:t>
            </a:r>
          </a:p>
          <a:p>
            <a:pPr eaLnBrk="1" hangingPunct="1">
              <a:lnSpc>
                <a:spcPct val="150000"/>
              </a:lnSpc>
              <a:buFont typeface="Wingdings" pitchFamily="2" charset="2"/>
              <a:buChar char="Ø"/>
            </a:pPr>
            <a:r>
              <a:rPr lang="en-US" sz="1400" dirty="0"/>
              <a:t>Up to 48% of the world’s amphibians have declining populations (</a:t>
            </a:r>
            <a:r>
              <a:rPr lang="en-US" sz="1400" u="sng" dirty="0">
                <a:solidFill>
                  <a:srgbClr val="0000FF"/>
                </a:solidFill>
              </a:rPr>
              <a:t>Stuart et al., Science 2004</a:t>
            </a:r>
            <a:r>
              <a:rPr lang="en-US" sz="1400" dirty="0"/>
              <a:t>)</a:t>
            </a:r>
          </a:p>
          <a:p>
            <a:pPr eaLnBrk="1" hangingPunct="1">
              <a:lnSpc>
                <a:spcPct val="150000"/>
              </a:lnSpc>
              <a:buFont typeface="Wingdings" pitchFamily="2" charset="2"/>
              <a:buChar char="Ø"/>
            </a:pPr>
            <a:r>
              <a:rPr lang="en-US" sz="1400" dirty="0"/>
              <a:t>Populations of vertebrates had declined by an average of 30% in the past 40 years (</a:t>
            </a:r>
            <a:r>
              <a:rPr lang="en-US" sz="1400" u="sng" dirty="0">
                <a:solidFill>
                  <a:srgbClr val="0000FF"/>
                </a:solidFill>
              </a:rPr>
              <a:t>Hoffmann et al., Science 2010</a:t>
            </a:r>
            <a:r>
              <a:rPr lang="en-US" sz="1400" dirty="0"/>
              <a:t>)</a:t>
            </a:r>
          </a:p>
        </p:txBody>
      </p:sp>
    </p:spTree>
    <p:extLst>
      <p:ext uri="{BB962C8B-B14F-4D97-AF65-F5344CB8AC3E}">
        <p14:creationId xmlns:p14="http://schemas.microsoft.com/office/powerpoint/2010/main" val="463671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19" name="Group 50"/>
          <p:cNvGrpSpPr>
            <a:grpSpLocks/>
          </p:cNvGrpSpPr>
          <p:nvPr/>
        </p:nvGrpSpPr>
        <p:grpSpPr bwMode="auto">
          <a:xfrm>
            <a:off x="457200" y="471568"/>
            <a:ext cx="1371600" cy="3021532"/>
            <a:chOff x="621792" y="1309768"/>
            <a:chExt cx="1372844" cy="3021332"/>
          </a:xfrm>
        </p:grpSpPr>
        <p:sp>
          <p:nvSpPr>
            <p:cNvPr id="4" name="TextBox 3"/>
            <p:cNvSpPr txBox="1"/>
            <p:nvPr/>
          </p:nvSpPr>
          <p:spPr>
            <a:xfrm>
              <a:off x="621792" y="4053918"/>
              <a:ext cx="1371256" cy="277182"/>
            </a:xfrm>
            <a:prstGeom prst="rect">
              <a:avLst/>
            </a:prstGeom>
            <a:solidFill>
              <a:schemeClr val="bg1">
                <a:lumMod val="85000"/>
              </a:schemeClr>
            </a:solidFill>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r" fontAlgn="auto">
                <a:spcBef>
                  <a:spcPts val="0"/>
                </a:spcBef>
                <a:spcAft>
                  <a:spcPts val="0"/>
                </a:spcAft>
                <a:defRPr/>
              </a:pPr>
              <a:r>
                <a:rPr lang="en-US" sz="1200" dirty="0">
                  <a:cs typeface="+mn-cs"/>
                </a:rPr>
                <a:t>Biodiversity….</a:t>
              </a:r>
            </a:p>
          </p:txBody>
        </p:sp>
        <p:pic>
          <p:nvPicPr>
            <p:cNvPr id="9269" name="Picture 9" descr="amazonas"/>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3036" y="1309768"/>
              <a:ext cx="1371600" cy="1381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70" name="Picture 4"/>
            <p:cNvPicPr preferRelativeResize="0">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3036" y="2687857"/>
              <a:ext cx="1371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5371" name="Group 53"/>
          <p:cNvGrpSpPr>
            <a:grpSpLocks/>
          </p:cNvGrpSpPr>
          <p:nvPr/>
        </p:nvGrpSpPr>
        <p:grpSpPr bwMode="auto">
          <a:xfrm>
            <a:off x="6553200" y="990600"/>
            <a:ext cx="2425700" cy="1905000"/>
            <a:chOff x="6109436" y="1828800"/>
            <a:chExt cx="2424964" cy="1904802"/>
          </a:xfrm>
        </p:grpSpPr>
        <p:sp>
          <p:nvSpPr>
            <p:cNvPr id="30" name="TextBox 29"/>
            <p:cNvSpPr txBox="1"/>
            <p:nvPr/>
          </p:nvSpPr>
          <p:spPr>
            <a:xfrm>
              <a:off x="6109436" y="3428834"/>
              <a:ext cx="2423377" cy="304768"/>
            </a:xfrm>
            <a:prstGeom prst="rect">
              <a:avLst/>
            </a:prstGeom>
            <a:solidFill>
              <a:schemeClr val="bg1">
                <a:lumMod val="85000"/>
              </a:schemeClr>
            </a:solidFill>
          </p:spPr>
          <p:txBody>
            <a:bodyPr>
              <a:spAutoFit/>
            </a:bodyPr>
            <a:lstStyle/>
            <a:p>
              <a:pPr algn="ctr" fontAlgn="auto">
                <a:spcBef>
                  <a:spcPts val="0"/>
                </a:spcBef>
                <a:spcAft>
                  <a:spcPts val="0"/>
                </a:spcAft>
                <a:defRPr/>
              </a:pPr>
              <a:r>
                <a:rPr lang="en-US" sz="1400" dirty="0">
                  <a:latin typeface="+mn-lt"/>
                  <a:cs typeface="+mn-cs"/>
                </a:rPr>
                <a:t>Loss of human welfare</a:t>
              </a:r>
            </a:p>
          </p:txBody>
        </p:sp>
        <p:pic>
          <p:nvPicPr>
            <p:cNvPr id="9267"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09436" y="1828800"/>
              <a:ext cx="2424964" cy="1647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5372" name="Group 51"/>
          <p:cNvGrpSpPr>
            <a:grpSpLocks/>
          </p:cNvGrpSpPr>
          <p:nvPr/>
        </p:nvGrpSpPr>
        <p:grpSpPr bwMode="auto">
          <a:xfrm>
            <a:off x="2209800" y="468726"/>
            <a:ext cx="1371600" cy="3025587"/>
            <a:chOff x="1993392" y="1287652"/>
            <a:chExt cx="1372844" cy="3025389"/>
          </a:xfrm>
        </p:grpSpPr>
        <p:pic>
          <p:nvPicPr>
            <p:cNvPr id="9263" name="Picture 6" descr="algae_rubble_small"/>
            <p:cNvPicPr preferRelativeResize="0">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94636" y="2659250"/>
              <a:ext cx="1371600" cy="1381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64" name="Picture 5"/>
            <p:cNvPicPr preferRelativeResize="0">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94636" y="1287652"/>
              <a:ext cx="1371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 name="TextBox 49"/>
            <p:cNvSpPr txBox="1"/>
            <p:nvPr/>
          </p:nvSpPr>
          <p:spPr>
            <a:xfrm>
              <a:off x="1993392" y="4038421"/>
              <a:ext cx="1371256" cy="274620"/>
            </a:xfrm>
            <a:prstGeom prst="rect">
              <a:avLst/>
            </a:prstGeom>
            <a:solidFill>
              <a:schemeClr val="bg1">
                <a:lumMod val="85000"/>
              </a:schemeClr>
            </a:solidFill>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auto">
                <a:spcBef>
                  <a:spcPts val="0"/>
                </a:spcBef>
                <a:spcAft>
                  <a:spcPts val="0"/>
                </a:spcAft>
                <a:defRPr/>
              </a:pPr>
              <a:r>
                <a:rPr lang="en-US" sz="1200" dirty="0">
                  <a:cs typeface="+mn-cs"/>
                </a:rPr>
                <a:t>….loss is real</a:t>
              </a:r>
            </a:p>
          </p:txBody>
        </p:sp>
      </p:grpSp>
      <p:sp>
        <p:nvSpPr>
          <p:cNvPr id="15376" name="Rectangle 54"/>
          <p:cNvSpPr>
            <a:spLocks noChangeArrowheads="1"/>
          </p:cNvSpPr>
          <p:nvPr/>
        </p:nvSpPr>
        <p:spPr bwMode="auto">
          <a:xfrm>
            <a:off x="6699120" y="2971800"/>
            <a:ext cx="2438400" cy="93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1100" i="1" dirty="0"/>
              <a:t>The number of malnourished people in the world is ~1 billion,  about a sixth of the world's total population (</a:t>
            </a:r>
            <a:r>
              <a:rPr lang="en-US" sz="1100" i="1" dirty="0">
                <a:hlinkClick r:id="rId8"/>
              </a:rPr>
              <a:t>“</a:t>
            </a:r>
            <a:r>
              <a:rPr lang="en-US" sz="1100" i="1" dirty="0" err="1">
                <a:hlinkClick r:id="rId8"/>
              </a:rPr>
              <a:t>FAO</a:t>
            </a:r>
            <a:r>
              <a:rPr lang="en-US" sz="1100" i="1" dirty="0">
                <a:hlinkClick r:id="rId8"/>
              </a:rPr>
              <a:t>, The State of Food Insecurity in the World, 2008 </a:t>
            </a:r>
            <a:r>
              <a:rPr lang="en-US" sz="1100" i="1" dirty="0"/>
              <a:t>).</a:t>
            </a:r>
          </a:p>
        </p:txBody>
      </p:sp>
      <p:sp>
        <p:nvSpPr>
          <p:cNvPr id="15377" name="Rectangle 55"/>
          <p:cNvSpPr>
            <a:spLocks noChangeArrowheads="1"/>
          </p:cNvSpPr>
          <p:nvPr/>
        </p:nvSpPr>
        <p:spPr bwMode="auto">
          <a:xfrm>
            <a:off x="6709660" y="3942090"/>
            <a:ext cx="2438400" cy="93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1100" i="1" dirty="0"/>
              <a:t>On average, a person dies every second as a direct or indirect result of poor nutrition (</a:t>
            </a:r>
            <a:r>
              <a:rPr lang="en-US" sz="1100" i="1" dirty="0">
                <a:hlinkClick r:id="rId9"/>
              </a:rPr>
              <a:t>“</a:t>
            </a:r>
            <a:r>
              <a:rPr lang="en-US" sz="1100" i="1" dirty="0">
                <a:hlinkClick r:id="rId10"/>
              </a:rPr>
              <a:t>The right to food : Commission on Human Rights resolution 2002/25”</a:t>
            </a:r>
            <a:r>
              <a:rPr lang="en-US" sz="1100" i="1" dirty="0"/>
              <a:t>).</a:t>
            </a:r>
          </a:p>
        </p:txBody>
      </p:sp>
      <p:sp>
        <p:nvSpPr>
          <p:cNvPr id="15378" name="Rectangle 56"/>
          <p:cNvSpPr>
            <a:spLocks noChangeArrowheads="1"/>
          </p:cNvSpPr>
          <p:nvPr/>
        </p:nvSpPr>
        <p:spPr bwMode="auto">
          <a:xfrm>
            <a:off x="6694561" y="4945559"/>
            <a:ext cx="24384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1100" i="1" dirty="0"/>
              <a:t>On average, a child under five dies every five seconds as a direct or indirect result of poor nutrition (</a:t>
            </a:r>
            <a:r>
              <a:rPr lang="en-US" sz="1100" i="1" dirty="0">
                <a:hlinkClick r:id="rId9"/>
              </a:rPr>
              <a:t>“The State of Food Insecurity in the World, 2002</a:t>
            </a:r>
            <a:r>
              <a:rPr lang="en-US" sz="1100" i="1" dirty="0"/>
              <a:t>).</a:t>
            </a:r>
          </a:p>
        </p:txBody>
      </p:sp>
      <p:grpSp>
        <p:nvGrpSpPr>
          <p:cNvPr id="15405" name="Group 45"/>
          <p:cNvGrpSpPr>
            <a:grpSpLocks/>
          </p:cNvGrpSpPr>
          <p:nvPr/>
        </p:nvGrpSpPr>
        <p:grpSpPr bwMode="auto">
          <a:xfrm>
            <a:off x="4417429" y="948074"/>
            <a:ext cx="1800000" cy="1800000"/>
            <a:chOff x="2210" y="336"/>
            <a:chExt cx="1728" cy="1728"/>
          </a:xfrm>
        </p:grpSpPr>
        <p:pic>
          <p:nvPicPr>
            <p:cNvPr id="9258" name="Picture 6"/>
            <p:cNvPicPr preferRelativeResize="0">
              <a:picLocks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3074" y="336"/>
              <a:ext cx="864" cy="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59" name="Picture 3"/>
            <p:cNvPicPr preferRelativeResize="0">
              <a:picLocks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3074" y="1200"/>
              <a:ext cx="864" cy="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60" name="Picture 2"/>
            <p:cNvPicPr preferRelativeResize="0">
              <a:picLocks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2210" y="336"/>
              <a:ext cx="864" cy="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61" name="Picture 6"/>
            <p:cNvPicPr preferRelativeResize="0">
              <a:picLocks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2210" y="1200"/>
              <a:ext cx="864" cy="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TextBox 28"/>
            <p:cNvSpPr txBox="1"/>
            <p:nvPr/>
          </p:nvSpPr>
          <p:spPr>
            <a:xfrm>
              <a:off x="2543" y="975"/>
              <a:ext cx="1049" cy="443"/>
            </a:xfrm>
            <a:prstGeom prst="rect">
              <a:avLst/>
            </a:prstGeom>
            <a:solidFill>
              <a:schemeClr val="bg1">
                <a:lumMod val="85000"/>
              </a:schemeClr>
            </a:solidFill>
          </p:spPr>
          <p:txBody>
            <a:bodyPr wrap="squar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fontAlgn="auto">
                <a:spcBef>
                  <a:spcPts val="0"/>
                </a:spcBef>
                <a:spcAft>
                  <a:spcPts val="0"/>
                </a:spcAft>
                <a:defRPr/>
              </a:pPr>
              <a:r>
                <a:rPr lang="en-US" sz="1200" dirty="0">
                  <a:cs typeface="+mn-cs"/>
                </a:rPr>
                <a:t>Loss of goods and services</a:t>
              </a:r>
            </a:p>
          </p:txBody>
        </p:sp>
      </p:grpSp>
      <p:sp>
        <p:nvSpPr>
          <p:cNvPr id="48" name="Right Arrow 47"/>
          <p:cNvSpPr/>
          <p:nvPr/>
        </p:nvSpPr>
        <p:spPr>
          <a:xfrm>
            <a:off x="3429001" y="1543274"/>
            <a:ext cx="1224480" cy="609600"/>
          </a:xfrm>
          <a:prstGeom prst="rightArrow">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9" name="Right Arrow 48"/>
          <p:cNvSpPr/>
          <p:nvPr/>
        </p:nvSpPr>
        <p:spPr>
          <a:xfrm>
            <a:off x="5993394" y="1524000"/>
            <a:ext cx="705726" cy="609600"/>
          </a:xfrm>
          <a:prstGeom prst="rightArrow">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nvGrpSpPr>
          <p:cNvPr id="8" name="Group 7"/>
          <p:cNvGrpSpPr>
            <a:grpSpLocks/>
          </p:cNvGrpSpPr>
          <p:nvPr/>
        </p:nvGrpSpPr>
        <p:grpSpPr bwMode="auto">
          <a:xfrm>
            <a:off x="621224" y="4480143"/>
            <a:ext cx="3086100" cy="1673225"/>
            <a:chOff x="-19050" y="4695825"/>
            <a:chExt cx="3086100" cy="1673225"/>
          </a:xfrm>
        </p:grpSpPr>
        <p:pic>
          <p:nvPicPr>
            <p:cNvPr id="9256" name="Picture 4"/>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19050" y="4921250"/>
              <a:ext cx="30861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57" name="TextBox 9"/>
            <p:cNvSpPr txBox="1">
              <a:spLocks noChangeArrowheads="1"/>
            </p:cNvSpPr>
            <p:nvPr/>
          </p:nvSpPr>
          <p:spPr bwMode="auto">
            <a:xfrm>
              <a:off x="247650" y="4695825"/>
              <a:ext cx="27813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cs typeface="Arial" pitchFamily="34" charset="0"/>
                </a:defRPr>
              </a:lvl1pPr>
              <a:lvl2pPr marL="742950" indent="-285750" eaLnBrk="0" hangingPunct="0">
                <a:defRPr>
                  <a:solidFill>
                    <a:schemeClr val="tx1"/>
                  </a:solidFill>
                  <a:latin typeface="Calibri" pitchFamily="34" charset="0"/>
                  <a:cs typeface="Arial" pitchFamily="34" charset="0"/>
                </a:defRPr>
              </a:lvl2pPr>
              <a:lvl3pPr marL="1143000" indent="-228600" eaLnBrk="0" hangingPunct="0">
                <a:defRPr>
                  <a:solidFill>
                    <a:schemeClr val="tx1"/>
                  </a:solidFill>
                  <a:latin typeface="Calibri" pitchFamily="34" charset="0"/>
                  <a:cs typeface="Arial" pitchFamily="34" charset="0"/>
                </a:defRPr>
              </a:lvl3pPr>
              <a:lvl4pPr marL="1600200" indent="-228600" eaLnBrk="0" hangingPunct="0">
                <a:defRPr>
                  <a:solidFill>
                    <a:schemeClr val="tx1"/>
                  </a:solidFill>
                  <a:latin typeface="Calibri" pitchFamily="34" charset="0"/>
                  <a:cs typeface="Arial" pitchFamily="34" charset="0"/>
                </a:defRPr>
              </a:lvl4pPr>
              <a:lvl5pPr marL="2057400" indent="-228600" eaLnBrk="0" hangingPunct="0">
                <a:defRPr>
                  <a:solidFill>
                    <a:schemeClr val="tx1"/>
                  </a:solidFill>
                  <a:latin typeface="Calibri" pitchFamily="34" charset="0"/>
                  <a:cs typeface="Arial" pitchFamily="34" charset="0"/>
                </a:defRPr>
              </a:lvl5pPr>
              <a:lvl6pPr marL="2514600" indent="-228600" eaLnBrk="0" fontAlgn="base" hangingPunct="0">
                <a:spcBef>
                  <a:spcPct val="0"/>
                </a:spcBef>
                <a:spcAft>
                  <a:spcPct val="0"/>
                </a:spcAft>
                <a:defRPr>
                  <a:solidFill>
                    <a:schemeClr val="tx1"/>
                  </a:solidFill>
                  <a:latin typeface="Calibri" pitchFamily="34" charset="0"/>
                  <a:cs typeface="Arial" pitchFamily="34" charset="0"/>
                </a:defRPr>
              </a:lvl6pPr>
              <a:lvl7pPr marL="2971800" indent="-228600" eaLnBrk="0" fontAlgn="base" hangingPunct="0">
                <a:spcBef>
                  <a:spcPct val="0"/>
                </a:spcBef>
                <a:spcAft>
                  <a:spcPct val="0"/>
                </a:spcAft>
                <a:defRPr>
                  <a:solidFill>
                    <a:schemeClr val="tx1"/>
                  </a:solidFill>
                  <a:latin typeface="Calibri" pitchFamily="34" charset="0"/>
                  <a:cs typeface="Arial" pitchFamily="34" charset="0"/>
                </a:defRPr>
              </a:lvl7pPr>
              <a:lvl8pPr marL="3429000" indent="-228600" eaLnBrk="0" fontAlgn="base" hangingPunct="0">
                <a:spcBef>
                  <a:spcPct val="0"/>
                </a:spcBef>
                <a:spcAft>
                  <a:spcPct val="0"/>
                </a:spcAft>
                <a:defRPr>
                  <a:solidFill>
                    <a:schemeClr val="tx1"/>
                  </a:solidFill>
                  <a:latin typeface="Calibri" pitchFamily="34" charset="0"/>
                  <a:cs typeface="Arial" pitchFamily="34" charset="0"/>
                </a:defRPr>
              </a:lvl8pPr>
              <a:lvl9pPr marL="3886200" indent="-228600" eaLnBrk="0" fontAlgn="base" hangingPunct="0">
                <a:spcBef>
                  <a:spcPct val="0"/>
                </a:spcBef>
                <a:spcAft>
                  <a:spcPct val="0"/>
                </a:spcAft>
                <a:defRPr>
                  <a:solidFill>
                    <a:schemeClr val="tx1"/>
                  </a:solidFill>
                  <a:latin typeface="Calibri" pitchFamily="34" charset="0"/>
                  <a:cs typeface="Arial" pitchFamily="34" charset="0"/>
                </a:defRPr>
              </a:lvl9pPr>
            </a:lstStyle>
            <a:p>
              <a:pPr eaLnBrk="1" hangingPunct="1"/>
              <a:r>
                <a:rPr lang="en-US" sz="1600" i="1"/>
                <a:t>Alternative equilibrium states</a:t>
              </a:r>
            </a:p>
          </p:txBody>
        </p:sp>
      </p:grpSp>
      <p:grpSp>
        <p:nvGrpSpPr>
          <p:cNvPr id="43" name="Group 15"/>
          <p:cNvGrpSpPr>
            <a:grpSpLocks/>
          </p:cNvGrpSpPr>
          <p:nvPr/>
        </p:nvGrpSpPr>
        <p:grpSpPr bwMode="auto">
          <a:xfrm>
            <a:off x="468824" y="5097681"/>
            <a:ext cx="914400" cy="373062"/>
            <a:chOff x="1752" y="919"/>
            <a:chExt cx="576" cy="235"/>
          </a:xfrm>
        </p:grpSpPr>
        <p:cxnSp>
          <p:nvCxnSpPr>
            <p:cNvPr id="45" name="Straight Arrow Connector 44"/>
            <p:cNvCxnSpPr/>
            <p:nvPr/>
          </p:nvCxnSpPr>
          <p:spPr>
            <a:xfrm>
              <a:off x="1874" y="919"/>
              <a:ext cx="103" cy="109"/>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255" name="TextBox 12"/>
            <p:cNvSpPr txBox="1">
              <a:spLocks noChangeArrowheads="1"/>
            </p:cNvSpPr>
            <p:nvPr/>
          </p:nvSpPr>
          <p:spPr bwMode="auto">
            <a:xfrm>
              <a:off x="1752" y="980"/>
              <a:ext cx="57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pitchFamily="34" charset="0"/>
                </a:defRPr>
              </a:lvl1pPr>
              <a:lvl2pPr marL="742950" indent="-285750" eaLnBrk="0" hangingPunct="0">
                <a:defRPr>
                  <a:solidFill>
                    <a:schemeClr val="tx1"/>
                  </a:solidFill>
                  <a:latin typeface="Calibri" pitchFamily="34" charset="0"/>
                  <a:cs typeface="Arial" pitchFamily="34" charset="0"/>
                </a:defRPr>
              </a:lvl2pPr>
              <a:lvl3pPr marL="1143000" indent="-228600" eaLnBrk="0" hangingPunct="0">
                <a:defRPr>
                  <a:solidFill>
                    <a:schemeClr val="tx1"/>
                  </a:solidFill>
                  <a:latin typeface="Calibri" pitchFamily="34" charset="0"/>
                  <a:cs typeface="Arial" pitchFamily="34" charset="0"/>
                </a:defRPr>
              </a:lvl3pPr>
              <a:lvl4pPr marL="1600200" indent="-228600" eaLnBrk="0" hangingPunct="0">
                <a:defRPr>
                  <a:solidFill>
                    <a:schemeClr val="tx1"/>
                  </a:solidFill>
                  <a:latin typeface="Calibri" pitchFamily="34" charset="0"/>
                  <a:cs typeface="Arial" pitchFamily="34" charset="0"/>
                </a:defRPr>
              </a:lvl4pPr>
              <a:lvl5pPr marL="2057400" indent="-228600" eaLnBrk="0" hangingPunct="0">
                <a:defRPr>
                  <a:solidFill>
                    <a:schemeClr val="tx1"/>
                  </a:solidFill>
                  <a:latin typeface="Calibri" pitchFamily="34" charset="0"/>
                  <a:cs typeface="Arial" pitchFamily="34" charset="0"/>
                </a:defRPr>
              </a:lvl5pPr>
              <a:lvl6pPr marL="2514600" indent="-228600" eaLnBrk="0" fontAlgn="base" hangingPunct="0">
                <a:spcBef>
                  <a:spcPct val="0"/>
                </a:spcBef>
                <a:spcAft>
                  <a:spcPct val="0"/>
                </a:spcAft>
                <a:defRPr>
                  <a:solidFill>
                    <a:schemeClr val="tx1"/>
                  </a:solidFill>
                  <a:latin typeface="Calibri" pitchFamily="34" charset="0"/>
                  <a:cs typeface="Arial" pitchFamily="34" charset="0"/>
                </a:defRPr>
              </a:lvl6pPr>
              <a:lvl7pPr marL="2971800" indent="-228600" eaLnBrk="0" fontAlgn="base" hangingPunct="0">
                <a:spcBef>
                  <a:spcPct val="0"/>
                </a:spcBef>
                <a:spcAft>
                  <a:spcPct val="0"/>
                </a:spcAft>
                <a:defRPr>
                  <a:solidFill>
                    <a:schemeClr val="tx1"/>
                  </a:solidFill>
                  <a:latin typeface="Calibri" pitchFamily="34" charset="0"/>
                  <a:cs typeface="Arial" pitchFamily="34" charset="0"/>
                </a:defRPr>
              </a:lvl7pPr>
              <a:lvl8pPr marL="3429000" indent="-228600" eaLnBrk="0" fontAlgn="base" hangingPunct="0">
                <a:spcBef>
                  <a:spcPct val="0"/>
                </a:spcBef>
                <a:spcAft>
                  <a:spcPct val="0"/>
                </a:spcAft>
                <a:defRPr>
                  <a:solidFill>
                    <a:schemeClr val="tx1"/>
                  </a:solidFill>
                  <a:latin typeface="Calibri" pitchFamily="34" charset="0"/>
                  <a:cs typeface="Arial" pitchFamily="34" charset="0"/>
                </a:defRPr>
              </a:lvl8pPr>
              <a:lvl9pPr marL="3886200" indent="-228600" eaLnBrk="0" fontAlgn="base" hangingPunct="0">
                <a:spcBef>
                  <a:spcPct val="0"/>
                </a:spcBef>
                <a:spcAft>
                  <a:spcPct val="0"/>
                </a:spcAft>
                <a:defRPr>
                  <a:solidFill>
                    <a:schemeClr val="tx1"/>
                  </a:solidFill>
                  <a:latin typeface="Calibri" pitchFamily="34" charset="0"/>
                  <a:cs typeface="Arial" pitchFamily="34" charset="0"/>
                </a:defRPr>
              </a:lvl9pPr>
            </a:lstStyle>
            <a:p>
              <a:pPr algn="ctr" eaLnBrk="1" hangingPunct="1"/>
              <a:r>
                <a:rPr lang="en-US" sz="1200"/>
                <a:t>Stressor</a:t>
              </a:r>
            </a:p>
          </p:txBody>
        </p:sp>
      </p:grpSp>
      <p:grpSp>
        <p:nvGrpSpPr>
          <p:cNvPr id="47" name="Group 16"/>
          <p:cNvGrpSpPr>
            <a:grpSpLocks/>
          </p:cNvGrpSpPr>
          <p:nvPr/>
        </p:nvGrpSpPr>
        <p:grpSpPr bwMode="auto">
          <a:xfrm>
            <a:off x="1040324" y="5238968"/>
            <a:ext cx="1104900" cy="655638"/>
            <a:chOff x="2112" y="1008"/>
            <a:chExt cx="696" cy="413"/>
          </a:xfrm>
        </p:grpSpPr>
        <p:sp>
          <p:nvSpPr>
            <p:cNvPr id="9252" name="TextBox 13"/>
            <p:cNvSpPr txBox="1">
              <a:spLocks noChangeArrowheads="1"/>
            </p:cNvSpPr>
            <p:nvPr/>
          </p:nvSpPr>
          <p:spPr bwMode="auto">
            <a:xfrm>
              <a:off x="2112" y="1248"/>
              <a:ext cx="69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pitchFamily="34" charset="0"/>
                </a:defRPr>
              </a:lvl1pPr>
              <a:lvl2pPr marL="742950" indent="-285750" eaLnBrk="0" hangingPunct="0">
                <a:defRPr>
                  <a:solidFill>
                    <a:schemeClr val="tx1"/>
                  </a:solidFill>
                  <a:latin typeface="Calibri" pitchFamily="34" charset="0"/>
                  <a:cs typeface="Arial" pitchFamily="34" charset="0"/>
                </a:defRPr>
              </a:lvl2pPr>
              <a:lvl3pPr marL="1143000" indent="-228600" eaLnBrk="0" hangingPunct="0">
                <a:defRPr>
                  <a:solidFill>
                    <a:schemeClr val="tx1"/>
                  </a:solidFill>
                  <a:latin typeface="Calibri" pitchFamily="34" charset="0"/>
                  <a:cs typeface="Arial" pitchFamily="34" charset="0"/>
                </a:defRPr>
              </a:lvl3pPr>
              <a:lvl4pPr marL="1600200" indent="-228600" eaLnBrk="0" hangingPunct="0">
                <a:defRPr>
                  <a:solidFill>
                    <a:schemeClr val="tx1"/>
                  </a:solidFill>
                  <a:latin typeface="Calibri" pitchFamily="34" charset="0"/>
                  <a:cs typeface="Arial" pitchFamily="34" charset="0"/>
                </a:defRPr>
              </a:lvl4pPr>
              <a:lvl5pPr marL="2057400" indent="-228600" eaLnBrk="0" hangingPunct="0">
                <a:defRPr>
                  <a:solidFill>
                    <a:schemeClr val="tx1"/>
                  </a:solidFill>
                  <a:latin typeface="Calibri" pitchFamily="34" charset="0"/>
                  <a:cs typeface="Arial" pitchFamily="34" charset="0"/>
                </a:defRPr>
              </a:lvl5pPr>
              <a:lvl6pPr marL="2514600" indent="-228600" eaLnBrk="0" fontAlgn="base" hangingPunct="0">
                <a:spcBef>
                  <a:spcPct val="0"/>
                </a:spcBef>
                <a:spcAft>
                  <a:spcPct val="0"/>
                </a:spcAft>
                <a:defRPr>
                  <a:solidFill>
                    <a:schemeClr val="tx1"/>
                  </a:solidFill>
                  <a:latin typeface="Calibri" pitchFamily="34" charset="0"/>
                  <a:cs typeface="Arial" pitchFamily="34" charset="0"/>
                </a:defRPr>
              </a:lvl6pPr>
              <a:lvl7pPr marL="2971800" indent="-228600" eaLnBrk="0" fontAlgn="base" hangingPunct="0">
                <a:spcBef>
                  <a:spcPct val="0"/>
                </a:spcBef>
                <a:spcAft>
                  <a:spcPct val="0"/>
                </a:spcAft>
                <a:defRPr>
                  <a:solidFill>
                    <a:schemeClr val="tx1"/>
                  </a:solidFill>
                  <a:latin typeface="Calibri" pitchFamily="34" charset="0"/>
                  <a:cs typeface="Arial" pitchFamily="34" charset="0"/>
                </a:defRPr>
              </a:lvl7pPr>
              <a:lvl8pPr marL="3429000" indent="-228600" eaLnBrk="0" fontAlgn="base" hangingPunct="0">
                <a:spcBef>
                  <a:spcPct val="0"/>
                </a:spcBef>
                <a:spcAft>
                  <a:spcPct val="0"/>
                </a:spcAft>
                <a:defRPr>
                  <a:solidFill>
                    <a:schemeClr val="tx1"/>
                  </a:solidFill>
                  <a:latin typeface="Calibri" pitchFamily="34" charset="0"/>
                  <a:cs typeface="Arial" pitchFamily="34" charset="0"/>
                </a:defRPr>
              </a:lvl8pPr>
              <a:lvl9pPr marL="3886200" indent="-228600" eaLnBrk="0" fontAlgn="base" hangingPunct="0">
                <a:spcBef>
                  <a:spcPct val="0"/>
                </a:spcBef>
                <a:spcAft>
                  <a:spcPct val="0"/>
                </a:spcAft>
                <a:defRPr>
                  <a:solidFill>
                    <a:schemeClr val="tx1"/>
                  </a:solidFill>
                  <a:latin typeface="Calibri" pitchFamily="34" charset="0"/>
                  <a:cs typeface="Arial" pitchFamily="34" charset="0"/>
                </a:defRPr>
              </a:lvl9pPr>
            </a:lstStyle>
            <a:p>
              <a:pPr algn="ctr" eaLnBrk="1" hangingPunct="1"/>
              <a:r>
                <a:rPr lang="en-US" sz="1200"/>
                <a:t>Depensation</a:t>
              </a:r>
            </a:p>
          </p:txBody>
        </p:sp>
        <p:cxnSp>
          <p:nvCxnSpPr>
            <p:cNvPr id="52" name="Straight Arrow Connector 51"/>
            <p:cNvCxnSpPr/>
            <p:nvPr/>
          </p:nvCxnSpPr>
          <p:spPr>
            <a:xfrm rot="16200000" flipH="1">
              <a:off x="2160" y="1080"/>
              <a:ext cx="288" cy="144"/>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7" name="Group 6"/>
          <p:cNvGrpSpPr>
            <a:grpSpLocks/>
          </p:cNvGrpSpPr>
          <p:nvPr/>
        </p:nvGrpSpPr>
        <p:grpSpPr bwMode="auto">
          <a:xfrm>
            <a:off x="2372681" y="5894606"/>
            <a:ext cx="1352550" cy="731540"/>
            <a:chOff x="1638300" y="6022975"/>
            <a:chExt cx="1352550" cy="731540"/>
          </a:xfrm>
        </p:grpSpPr>
        <p:cxnSp>
          <p:nvCxnSpPr>
            <p:cNvPr id="54" name="Straight Arrow Connector 53"/>
            <p:cNvCxnSpPr>
              <a:endCxn id="9251" idx="0"/>
            </p:cNvCxnSpPr>
            <p:nvPr/>
          </p:nvCxnSpPr>
          <p:spPr bwMode="auto">
            <a:xfrm>
              <a:off x="1638300" y="6022975"/>
              <a:ext cx="737306" cy="269875"/>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251" name="TextBox 21"/>
            <p:cNvSpPr txBox="1">
              <a:spLocks noChangeArrowheads="1"/>
            </p:cNvSpPr>
            <p:nvPr/>
          </p:nvSpPr>
          <p:spPr bwMode="auto">
            <a:xfrm>
              <a:off x="1760362" y="6292850"/>
              <a:ext cx="12304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cs typeface="Arial" pitchFamily="34" charset="0"/>
                </a:defRPr>
              </a:lvl1pPr>
              <a:lvl2pPr marL="742950" indent="-285750" eaLnBrk="0" hangingPunct="0">
                <a:defRPr>
                  <a:solidFill>
                    <a:schemeClr val="tx1"/>
                  </a:solidFill>
                  <a:latin typeface="Calibri" pitchFamily="34" charset="0"/>
                  <a:cs typeface="Arial" pitchFamily="34" charset="0"/>
                </a:defRPr>
              </a:lvl2pPr>
              <a:lvl3pPr marL="1143000" indent="-228600" eaLnBrk="0" hangingPunct="0">
                <a:defRPr>
                  <a:solidFill>
                    <a:schemeClr val="tx1"/>
                  </a:solidFill>
                  <a:latin typeface="Calibri" pitchFamily="34" charset="0"/>
                  <a:cs typeface="Arial" pitchFamily="34" charset="0"/>
                </a:defRPr>
              </a:lvl3pPr>
              <a:lvl4pPr marL="1600200" indent="-228600" eaLnBrk="0" hangingPunct="0">
                <a:defRPr>
                  <a:solidFill>
                    <a:schemeClr val="tx1"/>
                  </a:solidFill>
                  <a:latin typeface="Calibri" pitchFamily="34" charset="0"/>
                  <a:cs typeface="Arial" pitchFamily="34" charset="0"/>
                </a:defRPr>
              </a:lvl4pPr>
              <a:lvl5pPr marL="2057400" indent="-228600" eaLnBrk="0" hangingPunct="0">
                <a:defRPr>
                  <a:solidFill>
                    <a:schemeClr val="tx1"/>
                  </a:solidFill>
                  <a:latin typeface="Calibri" pitchFamily="34" charset="0"/>
                  <a:cs typeface="Arial" pitchFamily="34" charset="0"/>
                </a:defRPr>
              </a:lvl5pPr>
              <a:lvl6pPr marL="2514600" indent="-228600" eaLnBrk="0" fontAlgn="base" hangingPunct="0">
                <a:spcBef>
                  <a:spcPct val="0"/>
                </a:spcBef>
                <a:spcAft>
                  <a:spcPct val="0"/>
                </a:spcAft>
                <a:defRPr>
                  <a:solidFill>
                    <a:schemeClr val="tx1"/>
                  </a:solidFill>
                  <a:latin typeface="Calibri" pitchFamily="34" charset="0"/>
                  <a:cs typeface="Arial" pitchFamily="34" charset="0"/>
                </a:defRPr>
              </a:lvl6pPr>
              <a:lvl7pPr marL="2971800" indent="-228600" eaLnBrk="0" fontAlgn="base" hangingPunct="0">
                <a:spcBef>
                  <a:spcPct val="0"/>
                </a:spcBef>
                <a:spcAft>
                  <a:spcPct val="0"/>
                </a:spcAft>
                <a:defRPr>
                  <a:solidFill>
                    <a:schemeClr val="tx1"/>
                  </a:solidFill>
                  <a:latin typeface="Calibri" pitchFamily="34" charset="0"/>
                  <a:cs typeface="Arial" pitchFamily="34" charset="0"/>
                </a:defRPr>
              </a:lvl7pPr>
              <a:lvl8pPr marL="3429000" indent="-228600" eaLnBrk="0" fontAlgn="base" hangingPunct="0">
                <a:spcBef>
                  <a:spcPct val="0"/>
                </a:spcBef>
                <a:spcAft>
                  <a:spcPct val="0"/>
                </a:spcAft>
                <a:defRPr>
                  <a:solidFill>
                    <a:schemeClr val="tx1"/>
                  </a:solidFill>
                  <a:latin typeface="Calibri" pitchFamily="34" charset="0"/>
                  <a:cs typeface="Arial" pitchFamily="34" charset="0"/>
                </a:defRPr>
              </a:lvl8pPr>
              <a:lvl9pPr marL="3886200" indent="-228600" eaLnBrk="0" fontAlgn="base" hangingPunct="0">
                <a:spcBef>
                  <a:spcPct val="0"/>
                </a:spcBef>
                <a:spcAft>
                  <a:spcPct val="0"/>
                </a:spcAft>
                <a:defRPr>
                  <a:solidFill>
                    <a:schemeClr val="tx1"/>
                  </a:solidFill>
                  <a:latin typeface="Calibri" pitchFamily="34" charset="0"/>
                  <a:cs typeface="Arial" pitchFamily="34" charset="0"/>
                </a:defRPr>
              </a:lvl9pPr>
            </a:lstStyle>
            <a:p>
              <a:pPr algn="ctr" eaLnBrk="1" hangingPunct="1"/>
              <a:r>
                <a:rPr lang="en-US" sz="1200" dirty="0"/>
                <a:t>Genetic variability loss</a:t>
              </a:r>
            </a:p>
          </p:txBody>
        </p:sp>
      </p:grpSp>
      <p:grpSp>
        <p:nvGrpSpPr>
          <p:cNvPr id="5" name="Group 4"/>
          <p:cNvGrpSpPr>
            <a:grpSpLocks/>
          </p:cNvGrpSpPr>
          <p:nvPr/>
        </p:nvGrpSpPr>
        <p:grpSpPr bwMode="auto">
          <a:xfrm>
            <a:off x="613476" y="3213101"/>
            <a:ext cx="3055748" cy="1282704"/>
            <a:chOff x="613475" y="3289300"/>
            <a:chExt cx="3187701" cy="1282781"/>
          </a:xfrm>
        </p:grpSpPr>
        <p:sp>
          <p:nvSpPr>
            <p:cNvPr id="77" name="Arc 76"/>
            <p:cNvSpPr/>
            <p:nvPr/>
          </p:nvSpPr>
          <p:spPr>
            <a:xfrm>
              <a:off x="960438" y="3289300"/>
              <a:ext cx="2365136" cy="1004949"/>
            </a:xfrm>
            <a:prstGeom prst="arc">
              <a:avLst>
                <a:gd name="adj1" fmla="val 21033778"/>
                <a:gd name="adj2" fmla="val 11330256"/>
              </a:avLst>
            </a:prstGeom>
            <a:ln w="57150">
              <a:solidFill>
                <a:srgbClr val="FF0000"/>
              </a:solidFill>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solidFill>
                  <a:schemeClr val="bg2">
                    <a:lumMod val="25000"/>
                  </a:schemeClr>
                </a:solidFill>
              </a:endParaRPr>
            </a:p>
          </p:txBody>
        </p:sp>
        <p:sp>
          <p:nvSpPr>
            <p:cNvPr id="56" name="TextBox 55"/>
            <p:cNvSpPr txBox="1"/>
            <p:nvPr/>
          </p:nvSpPr>
          <p:spPr>
            <a:xfrm>
              <a:off x="613475" y="4294251"/>
              <a:ext cx="3187701" cy="277830"/>
            </a:xfrm>
            <a:prstGeom prst="rect">
              <a:avLst/>
            </a:prstGeom>
            <a:noFill/>
            <a:ln>
              <a:noFill/>
            </a:ln>
          </p:spPr>
          <p:txBody>
            <a:bodyPr>
              <a:spAutoFit/>
            </a:bodyPr>
            <a:lstStyle/>
            <a:p>
              <a:pPr algn="ctr" fontAlgn="auto">
                <a:spcBef>
                  <a:spcPts val="0"/>
                </a:spcBef>
                <a:spcAft>
                  <a:spcPts val="0"/>
                </a:spcAft>
                <a:defRPr/>
              </a:pPr>
              <a:r>
                <a:rPr lang="en-US" sz="1200" i="1" dirty="0">
                  <a:solidFill>
                    <a:srgbClr val="FF0000"/>
                  </a:solidFill>
                  <a:effectLst>
                    <a:outerShdw blurRad="38100" dist="38100" dir="2700000" algn="tl">
                      <a:srgbClr val="000000">
                        <a:alpha val="43137"/>
                      </a:srgbClr>
                    </a:outerShdw>
                  </a:effectLst>
                  <a:latin typeface="+mn-lt"/>
                  <a:cs typeface="+mn-cs"/>
                </a:rPr>
                <a:t>Some of the damages can be definitive</a:t>
              </a:r>
            </a:p>
          </p:txBody>
        </p:sp>
      </p:grpSp>
      <p:sp>
        <p:nvSpPr>
          <p:cNvPr id="9" name="Rectangle 8"/>
          <p:cNvSpPr/>
          <p:nvPr/>
        </p:nvSpPr>
        <p:spPr>
          <a:xfrm>
            <a:off x="43280" y="3487238"/>
            <a:ext cx="6694561" cy="3277386"/>
          </a:xfrm>
          <a:prstGeom prst="rect">
            <a:avLst/>
          </a:pr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anchor="ctr"/>
          <a:lstStyle/>
          <a:p>
            <a:pPr algn="ctr" fontAlgn="auto">
              <a:spcBef>
                <a:spcPts val="0"/>
              </a:spcBef>
              <a:spcAft>
                <a:spcPts val="0"/>
              </a:spcAft>
              <a:defRPr/>
            </a:pPr>
            <a:endParaRPr lang="en-US" b="1" dirty="0">
              <a:solidFill>
                <a:schemeClr val="bg1"/>
              </a:solidFill>
              <a:effectLst>
                <a:innerShdw blurRad="63500" dist="50800" dir="13500000">
                  <a:prstClr val="black">
                    <a:alpha val="50000"/>
                  </a:prstClr>
                </a:innerShdw>
              </a:effectLst>
            </a:endParaRPr>
          </a:p>
        </p:txBody>
      </p:sp>
      <p:sp>
        <p:nvSpPr>
          <p:cNvPr id="44" name="Right Arrow 43"/>
          <p:cNvSpPr/>
          <p:nvPr/>
        </p:nvSpPr>
        <p:spPr>
          <a:xfrm>
            <a:off x="1676399" y="1548261"/>
            <a:ext cx="1064935" cy="609600"/>
          </a:xfrm>
          <a:prstGeom prst="rightArrow">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9" name="TextBox 58"/>
          <p:cNvSpPr txBox="1"/>
          <p:nvPr/>
        </p:nvSpPr>
        <p:spPr>
          <a:xfrm>
            <a:off x="0" y="0"/>
            <a:ext cx="9144000" cy="366713"/>
          </a:xfrm>
          <a:prstGeom prst="rect">
            <a:avLst/>
          </a:prstGeom>
          <a:solidFill>
            <a:schemeClr val="bg1">
              <a:lumMod val="75000"/>
            </a:schemeClr>
          </a:solidFill>
        </p:spPr>
        <p:txBody>
          <a:bodyPr>
            <a:spAutoFit/>
          </a:bodyPr>
          <a:lstStyle/>
          <a:p>
            <a:pPr algn="ctr" fontAlgn="auto">
              <a:spcBef>
                <a:spcPts val="0"/>
              </a:spcBef>
              <a:spcAft>
                <a:spcPts val="0"/>
              </a:spcAft>
              <a:defRPr/>
            </a:pPr>
            <a:r>
              <a:rPr lang="en-US" dirty="0">
                <a:latin typeface="+mn-lt"/>
                <a:cs typeface="+mn-cs"/>
              </a:rPr>
              <a:t>...and the consequences could be even worse…</a:t>
            </a:r>
          </a:p>
        </p:txBody>
      </p:sp>
      <p:sp>
        <p:nvSpPr>
          <p:cNvPr id="60" name="TextBox 59"/>
          <p:cNvSpPr txBox="1"/>
          <p:nvPr/>
        </p:nvSpPr>
        <p:spPr>
          <a:xfrm>
            <a:off x="0" y="5943600"/>
            <a:ext cx="9144000" cy="523220"/>
          </a:xfrm>
          <a:prstGeom prst="rect">
            <a:avLst/>
          </a:prstGeom>
          <a:solidFill>
            <a:schemeClr val="bg1">
              <a:lumMod val="75000"/>
            </a:schemeClr>
          </a:solidFill>
        </p:spPr>
        <p:txBody>
          <a:bodyPr wrap="square" rtlCol="0">
            <a:spAutoFit/>
          </a:bodyPr>
          <a:lstStyle/>
          <a:p>
            <a:pPr algn="ctr"/>
            <a:r>
              <a:rPr lang="en-US" sz="1400" b="1" dirty="0"/>
              <a:t>The scale of the loss and nature of the treats is so pervasive that only large scale analysis can really tell us what the deal and solutions are</a:t>
            </a:r>
            <a:endParaRPr lang="en-CA" sz="1400" b="1" dirty="0"/>
          </a:p>
        </p:txBody>
      </p:sp>
    </p:spTree>
    <p:extLst>
      <p:ext uri="{BB962C8B-B14F-4D97-AF65-F5344CB8AC3E}">
        <p14:creationId xmlns:p14="http://schemas.microsoft.com/office/powerpoint/2010/main" val="35451808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2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44"/>
                                        </p:tgtEl>
                                        <p:attrNameLst>
                                          <p:attrName>style.visibility</p:attrName>
                                        </p:attrNameLst>
                                      </p:cBhvr>
                                      <p:to>
                                        <p:strVal val="visible"/>
                                      </p:to>
                                    </p:set>
                                    <p:animEffect transition="in" filter="wipe(left)">
                                      <p:cBhvr>
                                        <p:cTn id="11" dur="500"/>
                                        <p:tgtEl>
                                          <p:spTgt spid="44"/>
                                        </p:tgtEl>
                                      </p:cBhvr>
                                    </p:animEffect>
                                  </p:childTnLst>
                                </p:cTn>
                              </p:par>
                            </p:childTnLst>
                          </p:cTn>
                        </p:par>
                        <p:par>
                          <p:cTn id="12" fill="hold">
                            <p:stCondLst>
                              <p:cond delay="500"/>
                            </p:stCondLst>
                            <p:childTnLst>
                              <p:par>
                                <p:cTn id="13" presetID="1" presetClass="entr" presetSubtype="0" fill="hold" nodeType="afterEffect">
                                  <p:stCondLst>
                                    <p:cond delay="0"/>
                                  </p:stCondLst>
                                  <p:childTnLst>
                                    <p:set>
                                      <p:cBhvr>
                                        <p:cTn id="14" dur="1" fill="hold">
                                          <p:stCondLst>
                                            <p:cond delay="0"/>
                                          </p:stCondLst>
                                        </p:cTn>
                                        <p:tgtEl>
                                          <p:spTgt spid="1537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43"/>
                                        </p:tgtEl>
                                        <p:attrNameLst>
                                          <p:attrName>style.visibility</p:attrName>
                                        </p:attrNameLst>
                                      </p:cBhvr>
                                      <p:to>
                                        <p:strVal val="visible"/>
                                      </p:to>
                                    </p:set>
                                    <p:animEffect transition="in" filter="wipe(up)">
                                      <p:cBhvr>
                                        <p:cTn id="27" dur="500"/>
                                        <p:tgtEl>
                                          <p:spTgt spid="4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47"/>
                                        </p:tgtEl>
                                        <p:attrNameLst>
                                          <p:attrName>style.visibility</p:attrName>
                                        </p:attrNameLst>
                                      </p:cBhvr>
                                      <p:to>
                                        <p:strVal val="visible"/>
                                      </p:to>
                                    </p:set>
                                    <p:animEffect transition="in" filter="wipe(up)">
                                      <p:cBhvr>
                                        <p:cTn id="32" dur="500"/>
                                        <p:tgtEl>
                                          <p:spTgt spid="47"/>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childTnLst>
                                </p:cTn>
                              </p:par>
                            </p:childTnLst>
                          </p:cTn>
                        </p:par>
                        <p:par>
                          <p:cTn id="41" fill="hold">
                            <p:stCondLst>
                              <p:cond delay="0"/>
                            </p:stCondLst>
                            <p:childTnLst>
                              <p:par>
                                <p:cTn id="42" presetID="22" presetClass="entr" presetSubtype="8" fill="hold" grpId="0" nodeType="afterEffect">
                                  <p:stCondLst>
                                    <p:cond delay="0"/>
                                  </p:stCondLst>
                                  <p:childTnLst>
                                    <p:set>
                                      <p:cBhvr>
                                        <p:cTn id="43" dur="1" fill="hold">
                                          <p:stCondLst>
                                            <p:cond delay="0"/>
                                          </p:stCondLst>
                                        </p:cTn>
                                        <p:tgtEl>
                                          <p:spTgt spid="48"/>
                                        </p:tgtEl>
                                        <p:attrNameLst>
                                          <p:attrName>style.visibility</p:attrName>
                                        </p:attrNameLst>
                                      </p:cBhvr>
                                      <p:to>
                                        <p:strVal val="visible"/>
                                      </p:to>
                                    </p:set>
                                    <p:animEffect transition="in" filter="wipe(left)">
                                      <p:cBhvr>
                                        <p:cTn id="44" dur="500"/>
                                        <p:tgtEl>
                                          <p:spTgt spid="48"/>
                                        </p:tgtEl>
                                      </p:cBhvr>
                                    </p:animEffect>
                                  </p:childTnLst>
                                </p:cTn>
                              </p:par>
                            </p:childTnLst>
                          </p:cTn>
                        </p:par>
                        <p:par>
                          <p:cTn id="45" fill="hold">
                            <p:stCondLst>
                              <p:cond delay="500"/>
                            </p:stCondLst>
                            <p:childTnLst>
                              <p:par>
                                <p:cTn id="46" presetID="22" presetClass="entr" presetSubtype="8" fill="hold" nodeType="afterEffect">
                                  <p:stCondLst>
                                    <p:cond delay="0"/>
                                  </p:stCondLst>
                                  <p:childTnLst>
                                    <p:set>
                                      <p:cBhvr>
                                        <p:cTn id="47" dur="1" fill="hold">
                                          <p:stCondLst>
                                            <p:cond delay="0"/>
                                          </p:stCondLst>
                                        </p:cTn>
                                        <p:tgtEl>
                                          <p:spTgt spid="15405"/>
                                        </p:tgtEl>
                                        <p:attrNameLst>
                                          <p:attrName>style.visibility</p:attrName>
                                        </p:attrNameLst>
                                      </p:cBhvr>
                                      <p:to>
                                        <p:strVal val="visible"/>
                                      </p:to>
                                    </p:set>
                                    <p:animEffect transition="in" filter="wipe(left)">
                                      <p:cBhvr>
                                        <p:cTn id="48" dur="500"/>
                                        <p:tgtEl>
                                          <p:spTgt spid="15405"/>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49"/>
                                        </p:tgtEl>
                                        <p:attrNameLst>
                                          <p:attrName>style.visibility</p:attrName>
                                        </p:attrNameLst>
                                      </p:cBhvr>
                                      <p:to>
                                        <p:strVal val="visible"/>
                                      </p:to>
                                    </p:set>
                                    <p:animEffect transition="in" filter="wipe(left)">
                                      <p:cBhvr>
                                        <p:cTn id="53" dur="500"/>
                                        <p:tgtEl>
                                          <p:spTgt spid="49"/>
                                        </p:tgtEl>
                                      </p:cBhvr>
                                    </p:animEffect>
                                  </p:childTnLst>
                                </p:cTn>
                              </p:par>
                            </p:childTnLst>
                          </p:cTn>
                        </p:par>
                        <p:par>
                          <p:cTn id="54" fill="hold">
                            <p:stCondLst>
                              <p:cond delay="500"/>
                            </p:stCondLst>
                            <p:childTnLst>
                              <p:par>
                                <p:cTn id="55" presetID="1" presetClass="entr" presetSubtype="0" fill="hold" nodeType="afterEffect">
                                  <p:stCondLst>
                                    <p:cond delay="0"/>
                                  </p:stCondLst>
                                  <p:childTnLst>
                                    <p:set>
                                      <p:cBhvr>
                                        <p:cTn id="56" dur="1" fill="hold">
                                          <p:stCondLst>
                                            <p:cond delay="0"/>
                                          </p:stCondLst>
                                        </p:cTn>
                                        <p:tgtEl>
                                          <p:spTgt spid="15371"/>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5376"/>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5377"/>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5378"/>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76" grpId="0"/>
      <p:bldP spid="15377" grpId="0"/>
      <p:bldP spid="15378" grpId="0"/>
      <p:bldP spid="48" grpId="0" animBg="1"/>
      <p:bldP spid="49" grpId="0" animBg="1"/>
      <p:bldP spid="9" grpId="0" animBg="1"/>
      <p:bldP spid="44" grpId="0" animBg="1"/>
      <p:bldP spid="6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11"/>
          <p:cNvSpPr txBox="1">
            <a:spLocks noChangeArrowheads="1"/>
          </p:cNvSpPr>
          <p:nvPr/>
        </p:nvSpPr>
        <p:spPr bwMode="auto">
          <a:xfrm>
            <a:off x="0" y="228600"/>
            <a:ext cx="91440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sz="2400" dirty="0">
                <a:latin typeface="Times New Roman" pitchFamily="18" charset="0"/>
              </a:rPr>
              <a:t>So </a:t>
            </a:r>
            <a:r>
              <a:rPr lang="en-US" sz="2400">
                <a:latin typeface="Times New Roman" pitchFamily="18" charset="0"/>
              </a:rPr>
              <a:t>we need </a:t>
            </a:r>
            <a:r>
              <a:rPr lang="en-US" sz="2400" dirty="0">
                <a:latin typeface="Times New Roman" pitchFamily="18" charset="0"/>
              </a:rPr>
              <a:t>an urgent shift on the scales at which we do ecology without changing the basic premises of ecology itself</a:t>
            </a:r>
          </a:p>
        </p:txBody>
      </p:sp>
      <p:sp>
        <p:nvSpPr>
          <p:cNvPr id="10253" name="Text Box 13"/>
          <p:cNvSpPr txBox="1">
            <a:spLocks noChangeArrowheads="1"/>
          </p:cNvSpPr>
          <p:nvPr/>
        </p:nvSpPr>
        <p:spPr bwMode="auto">
          <a:xfrm>
            <a:off x="3865563" y="2851150"/>
            <a:ext cx="1597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sz="2400">
                <a:latin typeface="Times New Roman" pitchFamily="18" charset="0"/>
              </a:rPr>
              <a:t>Obtain data</a:t>
            </a:r>
          </a:p>
        </p:txBody>
      </p:sp>
      <p:grpSp>
        <p:nvGrpSpPr>
          <p:cNvPr id="10254" name="Group 14"/>
          <p:cNvGrpSpPr>
            <a:grpSpLocks/>
          </p:cNvGrpSpPr>
          <p:nvPr/>
        </p:nvGrpSpPr>
        <p:grpSpPr bwMode="auto">
          <a:xfrm>
            <a:off x="3830638" y="3238500"/>
            <a:ext cx="1784350" cy="890588"/>
            <a:chOff x="1693" y="2776"/>
            <a:chExt cx="1124" cy="561"/>
          </a:xfrm>
        </p:grpSpPr>
        <p:sp>
          <p:nvSpPr>
            <p:cNvPr id="3091" name="Text Box 15"/>
            <p:cNvSpPr txBox="1">
              <a:spLocks noChangeArrowheads="1"/>
            </p:cNvSpPr>
            <p:nvPr/>
          </p:nvSpPr>
          <p:spPr bwMode="auto">
            <a:xfrm>
              <a:off x="1693" y="3049"/>
              <a:ext cx="11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sz="2400">
                  <a:latin typeface="Times New Roman" pitchFamily="18" charset="0"/>
                </a:rPr>
                <a:t>Build pattern</a:t>
              </a:r>
            </a:p>
          </p:txBody>
        </p:sp>
        <p:sp>
          <p:nvSpPr>
            <p:cNvPr id="3092" name="Line 16"/>
            <p:cNvSpPr>
              <a:spLocks noChangeShapeType="1"/>
            </p:cNvSpPr>
            <p:nvPr/>
          </p:nvSpPr>
          <p:spPr bwMode="auto">
            <a:xfrm>
              <a:off x="2192" y="2776"/>
              <a:ext cx="0" cy="304"/>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grpSp>
      <p:grpSp>
        <p:nvGrpSpPr>
          <p:cNvPr id="10257" name="Group 17"/>
          <p:cNvGrpSpPr>
            <a:grpSpLocks/>
          </p:cNvGrpSpPr>
          <p:nvPr/>
        </p:nvGrpSpPr>
        <p:grpSpPr bwMode="auto">
          <a:xfrm>
            <a:off x="3629025" y="4127500"/>
            <a:ext cx="2139950" cy="835025"/>
            <a:chOff x="1566" y="3336"/>
            <a:chExt cx="1348" cy="526"/>
          </a:xfrm>
        </p:grpSpPr>
        <p:sp>
          <p:nvSpPr>
            <p:cNvPr id="3089" name="Text Box 18"/>
            <p:cNvSpPr txBox="1">
              <a:spLocks noChangeArrowheads="1"/>
            </p:cNvSpPr>
            <p:nvPr/>
          </p:nvSpPr>
          <p:spPr bwMode="auto">
            <a:xfrm>
              <a:off x="1566" y="3574"/>
              <a:ext cx="134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sz="2400">
                  <a:latin typeface="Times New Roman" pitchFamily="18" charset="0"/>
                </a:rPr>
                <a:t>Test hypotheses</a:t>
              </a:r>
            </a:p>
          </p:txBody>
        </p:sp>
        <p:sp>
          <p:nvSpPr>
            <p:cNvPr id="3090" name="Line 19"/>
            <p:cNvSpPr>
              <a:spLocks noChangeShapeType="1"/>
            </p:cNvSpPr>
            <p:nvPr/>
          </p:nvSpPr>
          <p:spPr bwMode="auto">
            <a:xfrm>
              <a:off x="2200" y="3336"/>
              <a:ext cx="0" cy="304"/>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grpSp>
      <p:grpSp>
        <p:nvGrpSpPr>
          <p:cNvPr id="10260" name="Group 20"/>
          <p:cNvGrpSpPr>
            <a:grpSpLocks/>
          </p:cNvGrpSpPr>
          <p:nvPr/>
        </p:nvGrpSpPr>
        <p:grpSpPr bwMode="auto">
          <a:xfrm>
            <a:off x="3767138" y="1612900"/>
            <a:ext cx="1573212" cy="1270000"/>
            <a:chOff x="1653" y="1784"/>
            <a:chExt cx="991" cy="800"/>
          </a:xfrm>
        </p:grpSpPr>
        <p:sp>
          <p:nvSpPr>
            <p:cNvPr id="3087" name="Line 21"/>
            <p:cNvSpPr>
              <a:spLocks noChangeShapeType="1"/>
            </p:cNvSpPr>
            <p:nvPr/>
          </p:nvSpPr>
          <p:spPr bwMode="auto">
            <a:xfrm flipH="1">
              <a:off x="2184" y="1784"/>
              <a:ext cx="0" cy="800"/>
            </a:xfrm>
            <a:prstGeom prst="line">
              <a:avLst/>
            </a:prstGeom>
            <a:noFill/>
            <a:ln w="76200" cmpd="tri">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3088" name="Text Box 22"/>
            <p:cNvSpPr txBox="1">
              <a:spLocks noChangeArrowheads="1"/>
            </p:cNvSpPr>
            <p:nvPr/>
          </p:nvSpPr>
          <p:spPr bwMode="auto">
            <a:xfrm>
              <a:off x="1653" y="1958"/>
              <a:ext cx="991" cy="250"/>
            </a:xfrm>
            <a:prstGeom prst="rect">
              <a:avLst/>
            </a:prstGeom>
            <a:solidFill>
              <a:srgbClr val="F7FF0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sz="2000">
                  <a:latin typeface="Times New Roman" pitchFamily="18" charset="0"/>
                </a:rPr>
                <a:t>The approach</a:t>
              </a:r>
            </a:p>
          </p:txBody>
        </p:sp>
      </p:grpSp>
      <p:sp>
        <p:nvSpPr>
          <p:cNvPr id="10268" name="Text Box 28"/>
          <p:cNvSpPr txBox="1">
            <a:spLocks noChangeArrowheads="1"/>
          </p:cNvSpPr>
          <p:nvPr/>
        </p:nvSpPr>
        <p:spPr bwMode="auto">
          <a:xfrm>
            <a:off x="1143000" y="5257800"/>
            <a:ext cx="1428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a:t>Small scale</a:t>
            </a:r>
          </a:p>
          <a:p>
            <a:pPr algn="ctr" eaLnBrk="1" hangingPunct="1"/>
            <a:r>
              <a:rPr lang="en-US"/>
              <a:t>experiments</a:t>
            </a:r>
            <a:endParaRPr lang="es-ES"/>
          </a:p>
        </p:txBody>
      </p:sp>
      <p:sp>
        <p:nvSpPr>
          <p:cNvPr id="10269" name="Text Box 29"/>
          <p:cNvSpPr txBox="1">
            <a:spLocks noChangeArrowheads="1"/>
          </p:cNvSpPr>
          <p:nvPr/>
        </p:nvSpPr>
        <p:spPr bwMode="auto">
          <a:xfrm>
            <a:off x="6172200" y="5257800"/>
            <a:ext cx="2438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a:t>Large scale and meta analytical studies</a:t>
            </a:r>
            <a:endParaRPr lang="es-ES"/>
          </a:p>
        </p:txBody>
      </p:sp>
      <p:grpSp>
        <p:nvGrpSpPr>
          <p:cNvPr id="10276" name="Group 36"/>
          <p:cNvGrpSpPr>
            <a:grpSpLocks/>
          </p:cNvGrpSpPr>
          <p:nvPr/>
        </p:nvGrpSpPr>
        <p:grpSpPr bwMode="auto">
          <a:xfrm>
            <a:off x="914400" y="6019800"/>
            <a:ext cx="7315200" cy="519113"/>
            <a:chOff x="576" y="3792"/>
            <a:chExt cx="4608" cy="327"/>
          </a:xfrm>
        </p:grpSpPr>
        <p:sp>
          <p:nvSpPr>
            <p:cNvPr id="3082" name="Text Box 27"/>
            <p:cNvSpPr txBox="1">
              <a:spLocks noChangeArrowheads="1"/>
            </p:cNvSpPr>
            <p:nvPr/>
          </p:nvSpPr>
          <p:spPr bwMode="auto">
            <a:xfrm>
              <a:off x="2688" y="3888"/>
              <a:ext cx="4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t>Time</a:t>
              </a:r>
              <a:endParaRPr lang="es-ES"/>
            </a:p>
          </p:txBody>
        </p:sp>
        <p:sp>
          <p:nvSpPr>
            <p:cNvPr id="3083" name="Text Box 30"/>
            <p:cNvSpPr txBox="1">
              <a:spLocks noChangeArrowheads="1"/>
            </p:cNvSpPr>
            <p:nvPr/>
          </p:nvSpPr>
          <p:spPr bwMode="auto">
            <a:xfrm>
              <a:off x="806" y="3863"/>
              <a:ext cx="6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i="1"/>
                <a:t>Old days</a:t>
              </a:r>
              <a:endParaRPr lang="es-ES" i="1"/>
            </a:p>
          </p:txBody>
        </p:sp>
        <p:sp>
          <p:nvSpPr>
            <p:cNvPr id="3084" name="Text Box 31"/>
            <p:cNvSpPr txBox="1">
              <a:spLocks noChangeArrowheads="1"/>
            </p:cNvSpPr>
            <p:nvPr/>
          </p:nvSpPr>
          <p:spPr bwMode="auto">
            <a:xfrm>
              <a:off x="4176" y="3888"/>
              <a:ext cx="95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i="1"/>
                <a:t>Recent times</a:t>
              </a:r>
              <a:endParaRPr lang="es-ES" i="1"/>
            </a:p>
          </p:txBody>
        </p:sp>
        <p:sp>
          <p:nvSpPr>
            <p:cNvPr id="3085" name="Line 34"/>
            <p:cNvSpPr>
              <a:spLocks noChangeShapeType="1"/>
            </p:cNvSpPr>
            <p:nvPr/>
          </p:nvSpPr>
          <p:spPr bwMode="auto">
            <a:xfrm>
              <a:off x="1488" y="3792"/>
              <a:ext cx="3696" cy="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3086" name="Line 35"/>
            <p:cNvSpPr>
              <a:spLocks noChangeShapeType="1"/>
            </p:cNvSpPr>
            <p:nvPr/>
          </p:nvSpPr>
          <p:spPr bwMode="auto">
            <a:xfrm>
              <a:off x="576" y="3792"/>
              <a:ext cx="1056" cy="0"/>
            </a:xfrm>
            <a:prstGeom prst="line">
              <a:avLst/>
            </a:prstGeom>
            <a:noFill/>
            <a:ln w="762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26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25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1" fill="hold" nodeType="clickEffect">
                                  <p:stCondLst>
                                    <p:cond delay="0"/>
                                  </p:stCondLst>
                                  <p:childTnLst>
                                    <p:set>
                                      <p:cBhvr>
                                        <p:cTn id="14" dur="1" fill="hold">
                                          <p:stCondLst>
                                            <p:cond delay="0"/>
                                          </p:stCondLst>
                                        </p:cTn>
                                        <p:tgtEl>
                                          <p:spTgt spid="10254"/>
                                        </p:tgtEl>
                                        <p:attrNameLst>
                                          <p:attrName>style.visibility</p:attrName>
                                        </p:attrNameLst>
                                      </p:cBhvr>
                                      <p:to>
                                        <p:strVal val="visible"/>
                                      </p:to>
                                    </p:set>
                                    <p:animEffect transition="in" filter="wipe(up)">
                                      <p:cBhvr>
                                        <p:cTn id="15" dur="500"/>
                                        <p:tgtEl>
                                          <p:spTgt spid="1025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1" fill="hold" nodeType="clickEffect">
                                  <p:stCondLst>
                                    <p:cond delay="0"/>
                                  </p:stCondLst>
                                  <p:childTnLst>
                                    <p:set>
                                      <p:cBhvr>
                                        <p:cTn id="19" dur="1" fill="hold">
                                          <p:stCondLst>
                                            <p:cond delay="0"/>
                                          </p:stCondLst>
                                        </p:cTn>
                                        <p:tgtEl>
                                          <p:spTgt spid="10257"/>
                                        </p:tgtEl>
                                        <p:attrNameLst>
                                          <p:attrName>style.visibility</p:attrName>
                                        </p:attrNameLst>
                                      </p:cBhvr>
                                      <p:to>
                                        <p:strVal val="visible"/>
                                      </p:to>
                                    </p:set>
                                    <p:animEffect transition="in" filter="wipe(up)">
                                      <p:cBhvr>
                                        <p:cTn id="20" dur="500"/>
                                        <p:tgtEl>
                                          <p:spTgt spid="1025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10276"/>
                                        </p:tgtEl>
                                        <p:attrNameLst>
                                          <p:attrName>style.visibility</p:attrName>
                                        </p:attrNameLst>
                                      </p:cBhvr>
                                      <p:to>
                                        <p:strVal val="visible"/>
                                      </p:to>
                                    </p:set>
                                    <p:animEffect transition="in" filter="wipe(left)">
                                      <p:cBhvr>
                                        <p:cTn id="25" dur="500"/>
                                        <p:tgtEl>
                                          <p:spTgt spid="10276"/>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0268"/>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02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53" grpId="0"/>
      <p:bldP spid="10268" grpId="0"/>
      <p:bldP spid="1026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2880" y="979303"/>
            <a:ext cx="9106560" cy="5907500"/>
            <a:chOff x="2880" y="979303"/>
            <a:chExt cx="9106560" cy="5907500"/>
          </a:xfrm>
        </p:grpSpPr>
        <p:pic>
          <p:nvPicPr>
            <p:cNvPr id="307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80" y="5943504"/>
              <a:ext cx="9106560" cy="943299"/>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FFFFF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1440" y="979303"/>
              <a:ext cx="7705440" cy="4893634"/>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FFFFF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076" name="Text Box 4"/>
            <p:cNvSpPr txBox="1">
              <a:spLocks noChangeArrowheads="1"/>
            </p:cNvSpPr>
            <p:nvPr/>
          </p:nvSpPr>
          <p:spPr bwMode="auto">
            <a:xfrm>
              <a:off x="721441" y="5972308"/>
              <a:ext cx="3918240" cy="2318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tabLst>
                  <a:tab pos="723900" algn="l"/>
                  <a:tab pos="1447800" algn="l"/>
                  <a:tab pos="2171700" algn="l"/>
                  <a:tab pos="2895600" algn="l"/>
                  <a:tab pos="3619500" algn="l"/>
                </a:tabLst>
                <a:defRPr sz="2400">
                  <a:solidFill>
                    <a:srgbClr val="000000"/>
                  </a:solidFill>
                  <a:latin typeface="Times New Roman" pitchFamily="16" charset="0"/>
                  <a:ea typeface="msgothic" charset="0"/>
                  <a:cs typeface="msgothic" charset="0"/>
                </a:defRPr>
              </a:lvl1pPr>
              <a:lvl2pPr>
                <a:tabLst>
                  <a:tab pos="723900" algn="l"/>
                  <a:tab pos="1447800" algn="l"/>
                  <a:tab pos="2171700" algn="l"/>
                  <a:tab pos="2895600" algn="l"/>
                  <a:tab pos="3619500" algn="l"/>
                </a:tabLst>
                <a:defRPr sz="2400">
                  <a:solidFill>
                    <a:srgbClr val="000000"/>
                  </a:solidFill>
                  <a:latin typeface="Times New Roman" pitchFamily="16" charset="0"/>
                  <a:ea typeface="msgothic" charset="0"/>
                  <a:cs typeface="msgothic" charset="0"/>
                </a:defRPr>
              </a:lvl2pPr>
              <a:lvl3pPr>
                <a:tabLst>
                  <a:tab pos="723900" algn="l"/>
                  <a:tab pos="1447800" algn="l"/>
                  <a:tab pos="2171700" algn="l"/>
                  <a:tab pos="2895600" algn="l"/>
                  <a:tab pos="3619500" algn="l"/>
                </a:tabLst>
                <a:defRPr sz="2400">
                  <a:solidFill>
                    <a:srgbClr val="000000"/>
                  </a:solidFill>
                  <a:latin typeface="Times New Roman" pitchFamily="16" charset="0"/>
                  <a:ea typeface="msgothic" charset="0"/>
                  <a:cs typeface="msgothic" charset="0"/>
                </a:defRPr>
              </a:lvl3pPr>
              <a:lvl4pPr>
                <a:tabLst>
                  <a:tab pos="723900" algn="l"/>
                  <a:tab pos="1447800" algn="l"/>
                  <a:tab pos="2171700" algn="l"/>
                  <a:tab pos="2895600" algn="l"/>
                  <a:tab pos="3619500" algn="l"/>
                </a:tabLst>
                <a:defRPr sz="2400">
                  <a:solidFill>
                    <a:srgbClr val="000000"/>
                  </a:solidFill>
                  <a:latin typeface="Times New Roman" pitchFamily="16" charset="0"/>
                  <a:ea typeface="msgothic" charset="0"/>
                  <a:cs typeface="msgothic" charset="0"/>
                </a:defRPr>
              </a:lvl4pPr>
              <a:lvl5pPr>
                <a:tabLst>
                  <a:tab pos="723900" algn="l"/>
                  <a:tab pos="1447800" algn="l"/>
                  <a:tab pos="2171700" algn="l"/>
                  <a:tab pos="2895600" algn="l"/>
                  <a:tab pos="3619500" algn="l"/>
                </a:tabLst>
                <a:defRPr sz="2400">
                  <a:solidFill>
                    <a:srgbClr val="000000"/>
                  </a:solidFill>
                  <a:latin typeface="Times New Roman" pitchFamily="16" charset="0"/>
                  <a:ea typeface="msgothic" charset="0"/>
                  <a:cs typeface="msgothic" charset="0"/>
                </a:defRPr>
              </a:lvl5pPr>
              <a:lvl6pPr marL="1536700" indent="-215900" defTabSz="457200" fontAlgn="base" hangingPunct="0">
                <a:lnSpc>
                  <a:spcPct val="93000"/>
                </a:lnSpc>
                <a:spcBef>
                  <a:spcPct val="0"/>
                </a:spcBef>
                <a:spcAft>
                  <a:spcPct val="0"/>
                </a:spcAft>
                <a:buClr>
                  <a:srgbClr val="000000"/>
                </a:buClr>
                <a:buSzPct val="45000"/>
                <a:buFont typeface="Wingdings" charset="2"/>
                <a:tabLst>
                  <a:tab pos="723900" algn="l"/>
                  <a:tab pos="1447800" algn="l"/>
                  <a:tab pos="2171700" algn="l"/>
                  <a:tab pos="2895600" algn="l"/>
                  <a:tab pos="3619500" algn="l"/>
                </a:tabLst>
                <a:defRPr sz="2400">
                  <a:solidFill>
                    <a:srgbClr val="000000"/>
                  </a:solidFill>
                  <a:latin typeface="Times New Roman" pitchFamily="16" charset="0"/>
                  <a:ea typeface="msgothic" charset="0"/>
                  <a:cs typeface="msgothic" charset="0"/>
                </a:defRPr>
              </a:lvl6pPr>
              <a:lvl7pPr marL="1993900" indent="-215900" defTabSz="457200" fontAlgn="base" hangingPunct="0">
                <a:lnSpc>
                  <a:spcPct val="93000"/>
                </a:lnSpc>
                <a:spcBef>
                  <a:spcPct val="0"/>
                </a:spcBef>
                <a:spcAft>
                  <a:spcPct val="0"/>
                </a:spcAft>
                <a:buClr>
                  <a:srgbClr val="000000"/>
                </a:buClr>
                <a:buSzPct val="45000"/>
                <a:buFont typeface="Wingdings" charset="2"/>
                <a:tabLst>
                  <a:tab pos="723900" algn="l"/>
                  <a:tab pos="1447800" algn="l"/>
                  <a:tab pos="2171700" algn="l"/>
                  <a:tab pos="2895600" algn="l"/>
                  <a:tab pos="3619500" algn="l"/>
                </a:tabLst>
                <a:defRPr sz="2400">
                  <a:solidFill>
                    <a:srgbClr val="000000"/>
                  </a:solidFill>
                  <a:latin typeface="Times New Roman" pitchFamily="16" charset="0"/>
                  <a:ea typeface="msgothic" charset="0"/>
                  <a:cs typeface="msgothic" charset="0"/>
                </a:defRPr>
              </a:lvl7pPr>
              <a:lvl8pPr marL="2451100" indent="-215900" defTabSz="457200" fontAlgn="base" hangingPunct="0">
                <a:lnSpc>
                  <a:spcPct val="93000"/>
                </a:lnSpc>
                <a:spcBef>
                  <a:spcPct val="0"/>
                </a:spcBef>
                <a:spcAft>
                  <a:spcPct val="0"/>
                </a:spcAft>
                <a:buClr>
                  <a:srgbClr val="000000"/>
                </a:buClr>
                <a:buSzPct val="45000"/>
                <a:buFont typeface="Wingdings" charset="2"/>
                <a:tabLst>
                  <a:tab pos="723900" algn="l"/>
                  <a:tab pos="1447800" algn="l"/>
                  <a:tab pos="2171700" algn="l"/>
                  <a:tab pos="2895600" algn="l"/>
                  <a:tab pos="3619500" algn="l"/>
                </a:tabLst>
                <a:defRPr sz="2400">
                  <a:solidFill>
                    <a:srgbClr val="000000"/>
                  </a:solidFill>
                  <a:latin typeface="Times New Roman" pitchFamily="16" charset="0"/>
                  <a:ea typeface="msgothic" charset="0"/>
                  <a:cs typeface="msgothic" charset="0"/>
                </a:defRPr>
              </a:lvl8pPr>
              <a:lvl9pPr marL="2908300" indent="-215900" defTabSz="457200" fontAlgn="base" hangingPunct="0">
                <a:lnSpc>
                  <a:spcPct val="93000"/>
                </a:lnSpc>
                <a:spcBef>
                  <a:spcPct val="0"/>
                </a:spcBef>
                <a:spcAft>
                  <a:spcPct val="0"/>
                </a:spcAft>
                <a:buClr>
                  <a:srgbClr val="000000"/>
                </a:buClr>
                <a:buSzPct val="45000"/>
                <a:buFont typeface="Wingdings" charset="2"/>
                <a:tabLst>
                  <a:tab pos="723900" algn="l"/>
                  <a:tab pos="1447800" algn="l"/>
                  <a:tab pos="2171700" algn="l"/>
                  <a:tab pos="2895600" algn="l"/>
                  <a:tab pos="3619500" algn="l"/>
                </a:tabLst>
                <a:defRPr sz="2400">
                  <a:solidFill>
                    <a:srgbClr val="000000"/>
                  </a:solidFill>
                  <a:latin typeface="Times New Roman" pitchFamily="16" charset="0"/>
                  <a:ea typeface="msgothic" charset="0"/>
                  <a:cs typeface="msgothic" charset="0"/>
                </a:defRPr>
              </a:lvl9pPr>
            </a:lstStyle>
            <a:p>
              <a:r>
                <a:rPr lang="en-GB" sz="1100" b="1">
                  <a:latin typeface="Arial" charset="0"/>
                </a:rPr>
                <a:t>Grorud-Colvert K et al. PNAS 2010;107:18306-18311</a:t>
              </a:r>
            </a:p>
          </p:txBody>
        </p:sp>
      </p:grpSp>
      <p:sp>
        <p:nvSpPr>
          <p:cNvPr id="3077" name="Text Box 5"/>
          <p:cNvSpPr txBox="1">
            <a:spLocks noChangeArrowheads="1"/>
          </p:cNvSpPr>
          <p:nvPr/>
        </p:nvSpPr>
        <p:spPr bwMode="auto">
          <a:xfrm>
            <a:off x="97920" y="6613175"/>
            <a:ext cx="4930560" cy="34707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85725" indent="-85725">
              <a:tabLst>
                <a:tab pos="723900" algn="l"/>
                <a:tab pos="1447800" algn="l"/>
                <a:tab pos="2171700" algn="l"/>
                <a:tab pos="2895600" algn="l"/>
                <a:tab pos="3619500" algn="l"/>
                <a:tab pos="4343400" algn="l"/>
                <a:tab pos="5067300" algn="l"/>
              </a:tabLst>
              <a:defRPr sz="2400">
                <a:solidFill>
                  <a:srgbClr val="000000"/>
                </a:solidFill>
                <a:latin typeface="Times New Roman" pitchFamily="16" charset="0"/>
                <a:ea typeface="msgothic" charset="0"/>
                <a:cs typeface="msgothic" charset="0"/>
              </a:defRPr>
            </a:lvl1pPr>
            <a:lvl2pPr>
              <a:tabLst>
                <a:tab pos="723900" algn="l"/>
                <a:tab pos="1447800" algn="l"/>
                <a:tab pos="2171700" algn="l"/>
                <a:tab pos="2895600" algn="l"/>
                <a:tab pos="3619500" algn="l"/>
                <a:tab pos="4343400" algn="l"/>
                <a:tab pos="5067300" algn="l"/>
              </a:tabLst>
              <a:defRPr sz="2400">
                <a:solidFill>
                  <a:srgbClr val="000000"/>
                </a:solidFill>
                <a:latin typeface="Times New Roman" pitchFamily="16" charset="0"/>
                <a:ea typeface="msgothic" charset="0"/>
                <a:cs typeface="msgothic" charset="0"/>
              </a:defRPr>
            </a:lvl2pPr>
            <a:lvl3pPr>
              <a:tabLst>
                <a:tab pos="723900" algn="l"/>
                <a:tab pos="1447800" algn="l"/>
                <a:tab pos="2171700" algn="l"/>
                <a:tab pos="2895600" algn="l"/>
                <a:tab pos="3619500" algn="l"/>
                <a:tab pos="4343400" algn="l"/>
                <a:tab pos="5067300" algn="l"/>
              </a:tabLst>
              <a:defRPr sz="2400">
                <a:solidFill>
                  <a:srgbClr val="000000"/>
                </a:solidFill>
                <a:latin typeface="Times New Roman" pitchFamily="16" charset="0"/>
                <a:ea typeface="msgothic" charset="0"/>
                <a:cs typeface="msgothic" charset="0"/>
              </a:defRPr>
            </a:lvl3pPr>
            <a:lvl4pPr>
              <a:tabLst>
                <a:tab pos="723900" algn="l"/>
                <a:tab pos="1447800" algn="l"/>
                <a:tab pos="2171700" algn="l"/>
                <a:tab pos="2895600" algn="l"/>
                <a:tab pos="3619500" algn="l"/>
                <a:tab pos="4343400" algn="l"/>
                <a:tab pos="5067300" algn="l"/>
              </a:tabLst>
              <a:defRPr sz="2400">
                <a:solidFill>
                  <a:srgbClr val="000000"/>
                </a:solidFill>
                <a:latin typeface="Times New Roman" pitchFamily="16" charset="0"/>
                <a:ea typeface="msgothic" charset="0"/>
                <a:cs typeface="msgothic" charset="0"/>
              </a:defRPr>
            </a:lvl4pPr>
            <a:lvl5pPr>
              <a:tabLst>
                <a:tab pos="723900" algn="l"/>
                <a:tab pos="1447800" algn="l"/>
                <a:tab pos="2171700" algn="l"/>
                <a:tab pos="2895600" algn="l"/>
                <a:tab pos="3619500" algn="l"/>
                <a:tab pos="4343400" algn="l"/>
                <a:tab pos="5067300" algn="l"/>
              </a:tabLst>
              <a:defRPr sz="2400">
                <a:solidFill>
                  <a:srgbClr val="000000"/>
                </a:solidFill>
                <a:latin typeface="Times New Roman" pitchFamily="16" charset="0"/>
                <a:ea typeface="msgothic" charset="0"/>
                <a:cs typeface="msgothic" charset="0"/>
              </a:defRPr>
            </a:lvl5pPr>
            <a:lvl6pPr marL="1536700" indent="-215900" defTabSz="457200" fontAlgn="base" hangingPunct="0">
              <a:lnSpc>
                <a:spcPct val="93000"/>
              </a:lnSpc>
              <a:spcBef>
                <a:spcPct val="0"/>
              </a:spcBef>
              <a:spcAft>
                <a:spcPct val="0"/>
              </a:spcAft>
              <a:buClr>
                <a:srgbClr val="000000"/>
              </a:buClr>
              <a:buSzPct val="45000"/>
              <a:buFont typeface="Wingdings" charset="2"/>
              <a:tabLst>
                <a:tab pos="723900" algn="l"/>
                <a:tab pos="1447800" algn="l"/>
                <a:tab pos="2171700" algn="l"/>
                <a:tab pos="2895600" algn="l"/>
                <a:tab pos="3619500" algn="l"/>
                <a:tab pos="4343400" algn="l"/>
                <a:tab pos="5067300" algn="l"/>
              </a:tabLst>
              <a:defRPr sz="2400">
                <a:solidFill>
                  <a:srgbClr val="000000"/>
                </a:solidFill>
                <a:latin typeface="Times New Roman" pitchFamily="16" charset="0"/>
                <a:ea typeface="msgothic" charset="0"/>
                <a:cs typeface="msgothic" charset="0"/>
              </a:defRPr>
            </a:lvl6pPr>
            <a:lvl7pPr marL="1993900" indent="-215900" defTabSz="457200" fontAlgn="base" hangingPunct="0">
              <a:lnSpc>
                <a:spcPct val="93000"/>
              </a:lnSpc>
              <a:spcBef>
                <a:spcPct val="0"/>
              </a:spcBef>
              <a:spcAft>
                <a:spcPct val="0"/>
              </a:spcAft>
              <a:buClr>
                <a:srgbClr val="000000"/>
              </a:buClr>
              <a:buSzPct val="45000"/>
              <a:buFont typeface="Wingdings" charset="2"/>
              <a:tabLst>
                <a:tab pos="723900" algn="l"/>
                <a:tab pos="1447800" algn="l"/>
                <a:tab pos="2171700" algn="l"/>
                <a:tab pos="2895600" algn="l"/>
                <a:tab pos="3619500" algn="l"/>
                <a:tab pos="4343400" algn="l"/>
                <a:tab pos="5067300" algn="l"/>
              </a:tabLst>
              <a:defRPr sz="2400">
                <a:solidFill>
                  <a:srgbClr val="000000"/>
                </a:solidFill>
                <a:latin typeface="Times New Roman" pitchFamily="16" charset="0"/>
                <a:ea typeface="msgothic" charset="0"/>
                <a:cs typeface="msgothic" charset="0"/>
              </a:defRPr>
            </a:lvl7pPr>
            <a:lvl8pPr marL="2451100" indent="-215900" defTabSz="457200" fontAlgn="base" hangingPunct="0">
              <a:lnSpc>
                <a:spcPct val="93000"/>
              </a:lnSpc>
              <a:spcBef>
                <a:spcPct val="0"/>
              </a:spcBef>
              <a:spcAft>
                <a:spcPct val="0"/>
              </a:spcAft>
              <a:buClr>
                <a:srgbClr val="000000"/>
              </a:buClr>
              <a:buSzPct val="45000"/>
              <a:buFont typeface="Wingdings" charset="2"/>
              <a:tabLst>
                <a:tab pos="723900" algn="l"/>
                <a:tab pos="1447800" algn="l"/>
                <a:tab pos="2171700" algn="l"/>
                <a:tab pos="2895600" algn="l"/>
                <a:tab pos="3619500" algn="l"/>
                <a:tab pos="4343400" algn="l"/>
                <a:tab pos="5067300" algn="l"/>
              </a:tabLst>
              <a:defRPr sz="2400">
                <a:solidFill>
                  <a:srgbClr val="000000"/>
                </a:solidFill>
                <a:latin typeface="Times New Roman" pitchFamily="16" charset="0"/>
                <a:ea typeface="msgothic" charset="0"/>
                <a:cs typeface="msgothic" charset="0"/>
              </a:defRPr>
            </a:lvl8pPr>
            <a:lvl9pPr marL="2908300" indent="-215900" defTabSz="457200" fontAlgn="base" hangingPunct="0">
              <a:lnSpc>
                <a:spcPct val="93000"/>
              </a:lnSpc>
              <a:spcBef>
                <a:spcPct val="0"/>
              </a:spcBef>
              <a:spcAft>
                <a:spcPct val="0"/>
              </a:spcAft>
              <a:buClr>
                <a:srgbClr val="000000"/>
              </a:buClr>
              <a:buSzPct val="45000"/>
              <a:buFont typeface="Wingdings" charset="2"/>
              <a:tabLst>
                <a:tab pos="723900" algn="l"/>
                <a:tab pos="1447800" algn="l"/>
                <a:tab pos="2171700" algn="l"/>
                <a:tab pos="2895600" algn="l"/>
                <a:tab pos="3619500" algn="l"/>
                <a:tab pos="4343400" algn="l"/>
                <a:tab pos="5067300" algn="l"/>
              </a:tabLst>
              <a:defRPr sz="2400">
                <a:solidFill>
                  <a:srgbClr val="000000"/>
                </a:solidFill>
                <a:latin typeface="Times New Roman" pitchFamily="16" charset="0"/>
                <a:ea typeface="msgothic" charset="0"/>
                <a:cs typeface="msgothic" charset="0"/>
              </a:defRPr>
            </a:lvl9pPr>
          </a:lstStyle>
          <a:p>
            <a:r>
              <a:rPr lang="en-GB" sz="900">
                <a:latin typeface="Arial" charset="0"/>
              </a:rPr>
              <a:t>©2010 by National Academy of Sciences</a:t>
            </a:r>
          </a:p>
        </p:txBody>
      </p:sp>
      <p:sp>
        <p:nvSpPr>
          <p:cNvPr id="7" name="TextBox 6"/>
          <p:cNvSpPr txBox="1"/>
          <p:nvPr/>
        </p:nvSpPr>
        <p:spPr>
          <a:xfrm>
            <a:off x="0" y="152400"/>
            <a:ext cx="9144000" cy="369332"/>
          </a:xfrm>
          <a:prstGeom prst="rect">
            <a:avLst/>
          </a:prstGeom>
          <a:solidFill>
            <a:schemeClr val="bg1">
              <a:lumMod val="85000"/>
            </a:schemeClr>
          </a:solidFill>
        </p:spPr>
        <p:txBody>
          <a:bodyPr>
            <a:spAutoFit/>
          </a:bodyPr>
          <a:lstStyle/>
          <a:p>
            <a:pPr algn="ctr" fontAlgn="auto">
              <a:spcBef>
                <a:spcPts val="0"/>
              </a:spcBef>
              <a:spcAft>
                <a:spcPts val="0"/>
              </a:spcAft>
              <a:defRPr/>
            </a:pPr>
            <a:r>
              <a:rPr lang="en-US" dirty="0">
                <a:latin typeface="+mn-lt"/>
                <a:cs typeface="+mn-cs"/>
              </a:rPr>
              <a:t>Why do we need large scale analyses: a case study with protected areas</a:t>
            </a:r>
          </a:p>
        </p:txBody>
      </p:sp>
    </p:spTree>
    <p:extLst>
      <p:ext uri="{BB962C8B-B14F-4D97-AF65-F5344CB8AC3E}">
        <p14:creationId xmlns:p14="http://schemas.microsoft.com/office/powerpoint/2010/main" val="1351955560"/>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Rectangle 4"/>
          <p:cNvSpPr>
            <a:spLocks noChangeArrowheads="1"/>
          </p:cNvSpPr>
          <p:nvPr/>
        </p:nvSpPr>
        <p:spPr bwMode="auto">
          <a:xfrm>
            <a:off x="0" y="261938"/>
            <a:ext cx="9144000" cy="3683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r>
              <a:rPr lang="en-US">
                <a:solidFill>
                  <a:schemeClr val="bg1"/>
                </a:solidFill>
              </a:rPr>
              <a:t>How are protected areas doing at the global scale?</a:t>
            </a:r>
          </a:p>
        </p:txBody>
      </p:sp>
      <p:sp>
        <p:nvSpPr>
          <p:cNvPr id="36872" name="Text Box 8"/>
          <p:cNvSpPr txBox="1">
            <a:spLocks noChangeArrowheads="1"/>
          </p:cNvSpPr>
          <p:nvPr/>
        </p:nvSpPr>
        <p:spPr bwMode="auto">
          <a:xfrm>
            <a:off x="6579679" y="6529050"/>
            <a:ext cx="2552700" cy="277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Calibri" pitchFamily="34" charset="0"/>
                <a:cs typeface="Arial" pitchFamily="34" charset="0"/>
              </a:defRPr>
            </a:lvl1pPr>
            <a:lvl2pPr marL="742950" indent="-285750" eaLnBrk="0" hangingPunct="0">
              <a:defRPr>
                <a:solidFill>
                  <a:schemeClr val="tx1"/>
                </a:solidFill>
                <a:latin typeface="Calibri" pitchFamily="34" charset="0"/>
                <a:cs typeface="Arial" pitchFamily="34" charset="0"/>
              </a:defRPr>
            </a:lvl2pPr>
            <a:lvl3pPr marL="1143000" indent="-228600" eaLnBrk="0" hangingPunct="0">
              <a:defRPr>
                <a:solidFill>
                  <a:schemeClr val="tx1"/>
                </a:solidFill>
                <a:latin typeface="Calibri" pitchFamily="34" charset="0"/>
                <a:cs typeface="Arial" pitchFamily="34" charset="0"/>
              </a:defRPr>
            </a:lvl3pPr>
            <a:lvl4pPr marL="1600200" indent="-228600" eaLnBrk="0" hangingPunct="0">
              <a:defRPr>
                <a:solidFill>
                  <a:schemeClr val="tx1"/>
                </a:solidFill>
                <a:latin typeface="Calibri" pitchFamily="34" charset="0"/>
                <a:cs typeface="Arial" pitchFamily="34" charset="0"/>
              </a:defRPr>
            </a:lvl4pPr>
            <a:lvl5pPr marL="2057400" indent="-228600" eaLnBrk="0" hangingPunct="0">
              <a:defRPr>
                <a:solidFill>
                  <a:schemeClr val="tx1"/>
                </a:solidFill>
                <a:latin typeface="Calibri" pitchFamily="34" charset="0"/>
                <a:cs typeface="Arial" pitchFamily="34" charset="0"/>
              </a:defRPr>
            </a:lvl5pPr>
            <a:lvl6pPr marL="2514600" indent="-228600" eaLnBrk="0" fontAlgn="base" hangingPunct="0">
              <a:spcBef>
                <a:spcPct val="0"/>
              </a:spcBef>
              <a:spcAft>
                <a:spcPct val="0"/>
              </a:spcAft>
              <a:defRPr>
                <a:solidFill>
                  <a:schemeClr val="tx1"/>
                </a:solidFill>
                <a:latin typeface="Calibri" pitchFamily="34" charset="0"/>
                <a:cs typeface="Arial" pitchFamily="34" charset="0"/>
              </a:defRPr>
            </a:lvl6pPr>
            <a:lvl7pPr marL="2971800" indent="-228600" eaLnBrk="0" fontAlgn="base" hangingPunct="0">
              <a:spcBef>
                <a:spcPct val="0"/>
              </a:spcBef>
              <a:spcAft>
                <a:spcPct val="0"/>
              </a:spcAft>
              <a:defRPr>
                <a:solidFill>
                  <a:schemeClr val="tx1"/>
                </a:solidFill>
                <a:latin typeface="Calibri" pitchFamily="34" charset="0"/>
                <a:cs typeface="Arial" pitchFamily="34" charset="0"/>
              </a:defRPr>
            </a:lvl7pPr>
            <a:lvl8pPr marL="3429000" indent="-228600" eaLnBrk="0" fontAlgn="base" hangingPunct="0">
              <a:spcBef>
                <a:spcPct val="0"/>
              </a:spcBef>
              <a:spcAft>
                <a:spcPct val="0"/>
              </a:spcAft>
              <a:defRPr>
                <a:solidFill>
                  <a:schemeClr val="tx1"/>
                </a:solidFill>
                <a:latin typeface="Calibri" pitchFamily="34" charset="0"/>
                <a:cs typeface="Arial" pitchFamily="34" charset="0"/>
              </a:defRPr>
            </a:lvl8pPr>
            <a:lvl9pPr marL="3886200" indent="-228600" eaLnBrk="0" fontAlgn="base" hangingPunct="0">
              <a:spcBef>
                <a:spcPct val="0"/>
              </a:spcBef>
              <a:spcAft>
                <a:spcPct val="0"/>
              </a:spcAft>
              <a:defRPr>
                <a:solidFill>
                  <a:schemeClr val="tx1"/>
                </a:solidFill>
                <a:latin typeface="Calibri" pitchFamily="34" charset="0"/>
                <a:cs typeface="Arial" pitchFamily="34" charset="0"/>
              </a:defRPr>
            </a:lvl9pPr>
          </a:lstStyle>
          <a:p>
            <a:pPr eaLnBrk="1" hangingPunct="1"/>
            <a:r>
              <a:rPr lang="en-US" sz="1200" dirty="0"/>
              <a:t>Mora, Cambridge book on MPAs 2011</a:t>
            </a:r>
          </a:p>
        </p:txBody>
      </p:sp>
      <p:pic>
        <p:nvPicPr>
          <p:cNvPr id="32788" name="Picture 2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9792" y="1332947"/>
            <a:ext cx="2813820" cy="4496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789" name="Picture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63842" y="1135315"/>
            <a:ext cx="6385805" cy="4693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22917" name="Rectangle 5"/>
          <p:cNvSpPr>
            <a:spLocks noChangeArrowheads="1"/>
          </p:cNvSpPr>
          <p:nvPr/>
        </p:nvSpPr>
        <p:spPr bwMode="auto">
          <a:xfrm>
            <a:off x="4326163" y="1257950"/>
            <a:ext cx="3223483" cy="433804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2167756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3687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78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78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4229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72" grpId="0"/>
      <p:bldP spid="42291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52400"/>
            <a:ext cx="9144000" cy="641350"/>
          </a:xfrm>
          <a:prstGeom prst="rect">
            <a:avLst/>
          </a:prstGeom>
          <a:solidFill>
            <a:schemeClr val="bg1">
              <a:lumMod val="85000"/>
            </a:schemeClr>
          </a:solidFill>
        </p:spPr>
        <p:txBody>
          <a:bodyPr>
            <a:spAutoFit/>
          </a:bodyPr>
          <a:lstStyle/>
          <a:p>
            <a:pPr algn="ctr" fontAlgn="auto">
              <a:spcBef>
                <a:spcPts val="0"/>
              </a:spcBef>
              <a:spcAft>
                <a:spcPts val="0"/>
              </a:spcAft>
              <a:defRPr/>
            </a:pPr>
            <a:r>
              <a:rPr lang="en-US" dirty="0">
                <a:latin typeface="+mn-lt"/>
                <a:cs typeface="+mn-cs"/>
              </a:rPr>
              <a:t>BUT, IF WE TAKE FOR GRANTED THAT PAs DO WORK; ARE THEY A FEASIBLE SOLUTION TO THE GLOBAL BIODIVERSITY CRISIS?</a:t>
            </a:r>
          </a:p>
        </p:txBody>
      </p:sp>
      <p:sp>
        <p:nvSpPr>
          <p:cNvPr id="5" name="TextBox 4"/>
          <p:cNvSpPr txBox="1">
            <a:spLocks noChangeArrowheads="1"/>
          </p:cNvSpPr>
          <p:nvPr/>
        </p:nvSpPr>
        <p:spPr bwMode="auto">
          <a:xfrm>
            <a:off x="0" y="914400"/>
            <a:ext cx="9144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a:r>
              <a:rPr lang="en-US" dirty="0"/>
              <a:t>The problem of scale</a:t>
            </a:r>
          </a:p>
        </p:txBody>
      </p:sp>
      <p:grpSp>
        <p:nvGrpSpPr>
          <p:cNvPr id="2" name="Group 35"/>
          <p:cNvGrpSpPr>
            <a:grpSpLocks/>
          </p:cNvGrpSpPr>
          <p:nvPr/>
        </p:nvGrpSpPr>
        <p:grpSpPr bwMode="auto">
          <a:xfrm>
            <a:off x="228600" y="1382713"/>
            <a:ext cx="3765550" cy="987425"/>
            <a:chOff x="228600" y="1383268"/>
            <a:chExt cx="3765688" cy="987425"/>
          </a:xfrm>
        </p:grpSpPr>
        <p:sp>
          <p:nvSpPr>
            <p:cNvPr id="13337" name="TextBox 5"/>
            <p:cNvSpPr txBox="1">
              <a:spLocks noChangeArrowheads="1"/>
            </p:cNvSpPr>
            <p:nvPr/>
          </p:nvSpPr>
          <p:spPr bwMode="auto">
            <a:xfrm>
              <a:off x="228600" y="1383268"/>
              <a:ext cx="10096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t>Analogy</a:t>
              </a:r>
            </a:p>
          </p:txBody>
        </p:sp>
        <p:sp>
          <p:nvSpPr>
            <p:cNvPr id="13338" name="TextBox 6"/>
            <p:cNvSpPr txBox="1">
              <a:spLocks noChangeArrowheads="1"/>
            </p:cNvSpPr>
            <p:nvPr/>
          </p:nvSpPr>
          <p:spPr bwMode="auto">
            <a:xfrm>
              <a:off x="685817" y="1992868"/>
              <a:ext cx="3365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t>A</a:t>
              </a:r>
            </a:p>
          </p:txBody>
        </p:sp>
        <p:sp>
          <p:nvSpPr>
            <p:cNvPr id="13339" name="TextBox 7"/>
            <p:cNvSpPr txBox="1">
              <a:spLocks noChangeArrowheads="1"/>
            </p:cNvSpPr>
            <p:nvPr/>
          </p:nvSpPr>
          <p:spPr bwMode="auto">
            <a:xfrm>
              <a:off x="3657726" y="2003981"/>
              <a:ext cx="3365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t>B</a:t>
              </a:r>
            </a:p>
          </p:txBody>
        </p:sp>
        <p:cxnSp>
          <p:nvCxnSpPr>
            <p:cNvPr id="10" name="Straight Arrow Connector 9"/>
            <p:cNvCxnSpPr>
              <a:stCxn id="13338" idx="3"/>
              <a:endCxn id="13339" idx="1"/>
            </p:cNvCxnSpPr>
            <p:nvPr/>
          </p:nvCxnSpPr>
          <p:spPr>
            <a:xfrm>
              <a:off x="1003328" y="2177018"/>
              <a:ext cx="2654397" cy="127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11" name="TextBox 10"/>
          <p:cNvSpPr txBox="1">
            <a:spLocks noChangeArrowheads="1"/>
          </p:cNvSpPr>
          <p:nvPr/>
        </p:nvSpPr>
        <p:spPr bwMode="auto">
          <a:xfrm>
            <a:off x="4283075" y="1998147"/>
            <a:ext cx="93326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dirty="0"/>
              <a:t>Walking</a:t>
            </a:r>
          </a:p>
        </p:txBody>
      </p:sp>
      <p:grpSp>
        <p:nvGrpSpPr>
          <p:cNvPr id="3" name="Group 31"/>
          <p:cNvGrpSpPr>
            <a:grpSpLocks/>
          </p:cNvGrpSpPr>
          <p:nvPr/>
        </p:nvGrpSpPr>
        <p:grpSpPr bwMode="auto">
          <a:xfrm>
            <a:off x="0" y="2449513"/>
            <a:ext cx="9144000" cy="685800"/>
            <a:chOff x="0" y="2450068"/>
            <a:chExt cx="9144000" cy="685800"/>
          </a:xfrm>
        </p:grpSpPr>
        <p:sp>
          <p:nvSpPr>
            <p:cNvPr id="27" name="Rectangle 26"/>
            <p:cNvSpPr/>
            <p:nvPr/>
          </p:nvSpPr>
          <p:spPr>
            <a:xfrm>
              <a:off x="0" y="2450068"/>
              <a:ext cx="91440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3334" name="TextBox 11"/>
            <p:cNvSpPr txBox="1">
              <a:spLocks noChangeArrowheads="1"/>
            </p:cNvSpPr>
            <p:nvPr/>
          </p:nvSpPr>
          <p:spPr bwMode="auto">
            <a:xfrm>
              <a:off x="574675" y="2602468"/>
              <a:ext cx="590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a:r>
                <a:rPr lang="en-US"/>
                <a:t>Bed</a:t>
              </a:r>
            </a:p>
          </p:txBody>
        </p:sp>
        <p:sp>
          <p:nvSpPr>
            <p:cNvPr id="13335" name="TextBox 12"/>
            <p:cNvSpPr txBox="1">
              <a:spLocks noChangeArrowheads="1"/>
            </p:cNvSpPr>
            <p:nvPr/>
          </p:nvSpPr>
          <p:spPr bwMode="auto">
            <a:xfrm>
              <a:off x="3097213" y="2602468"/>
              <a:ext cx="1174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a:r>
                <a:rPr lang="en-US"/>
                <a:t>Bathroom</a:t>
              </a:r>
            </a:p>
          </p:txBody>
        </p:sp>
        <p:sp>
          <p:nvSpPr>
            <p:cNvPr id="13336" name="TextBox 13"/>
            <p:cNvSpPr txBox="1">
              <a:spLocks noChangeArrowheads="1"/>
            </p:cNvSpPr>
            <p:nvPr/>
          </p:nvSpPr>
          <p:spPr bwMode="auto">
            <a:xfrm>
              <a:off x="4495800" y="2602468"/>
              <a:ext cx="30305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t>Walking is a perfect solution</a:t>
              </a:r>
            </a:p>
          </p:txBody>
        </p:sp>
      </p:grpSp>
      <p:grpSp>
        <p:nvGrpSpPr>
          <p:cNvPr id="9" name="Group 32"/>
          <p:cNvGrpSpPr>
            <a:grpSpLocks/>
          </p:cNvGrpSpPr>
          <p:nvPr/>
        </p:nvGrpSpPr>
        <p:grpSpPr bwMode="auto">
          <a:xfrm>
            <a:off x="203200" y="3327400"/>
            <a:ext cx="8805863" cy="641350"/>
            <a:chOff x="203198" y="3327737"/>
            <a:chExt cx="8806416" cy="641567"/>
          </a:xfrm>
        </p:grpSpPr>
        <p:sp>
          <p:nvSpPr>
            <p:cNvPr id="13330" name="TextBox 14"/>
            <p:cNvSpPr txBox="1">
              <a:spLocks noChangeArrowheads="1"/>
            </p:cNvSpPr>
            <p:nvPr/>
          </p:nvSpPr>
          <p:spPr bwMode="auto">
            <a:xfrm>
              <a:off x="203198" y="3403963"/>
              <a:ext cx="1136722" cy="366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a:r>
                <a:rPr lang="en-US"/>
                <a:t>First floor</a:t>
              </a:r>
            </a:p>
          </p:txBody>
        </p:sp>
        <p:sp>
          <p:nvSpPr>
            <p:cNvPr id="13331" name="TextBox 16"/>
            <p:cNvSpPr txBox="1">
              <a:spLocks noChangeArrowheads="1"/>
            </p:cNvSpPr>
            <p:nvPr/>
          </p:nvSpPr>
          <p:spPr bwMode="auto">
            <a:xfrm>
              <a:off x="2921169" y="3403963"/>
              <a:ext cx="1468530" cy="366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a:r>
                <a:rPr lang="en-US"/>
                <a:t>Second floor</a:t>
              </a:r>
            </a:p>
          </p:txBody>
        </p:sp>
        <p:sp>
          <p:nvSpPr>
            <p:cNvPr id="13332" name="TextBox 17"/>
            <p:cNvSpPr txBox="1">
              <a:spLocks noChangeArrowheads="1"/>
            </p:cNvSpPr>
            <p:nvPr/>
          </p:nvSpPr>
          <p:spPr bwMode="auto">
            <a:xfrm>
              <a:off x="4496068" y="3327737"/>
              <a:ext cx="4513546" cy="641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t>Walking is a perfect solution although many will take the elevator</a:t>
              </a:r>
            </a:p>
          </p:txBody>
        </p:sp>
      </p:grpSp>
      <p:grpSp>
        <p:nvGrpSpPr>
          <p:cNvPr id="23" name="Group 33"/>
          <p:cNvGrpSpPr>
            <a:grpSpLocks/>
          </p:cNvGrpSpPr>
          <p:nvPr/>
        </p:nvGrpSpPr>
        <p:grpSpPr bwMode="auto">
          <a:xfrm>
            <a:off x="0" y="4049713"/>
            <a:ext cx="9202738" cy="685800"/>
            <a:chOff x="0" y="4050268"/>
            <a:chExt cx="9202738" cy="685800"/>
          </a:xfrm>
        </p:grpSpPr>
        <p:sp>
          <p:nvSpPr>
            <p:cNvPr id="28" name="Rectangle 27"/>
            <p:cNvSpPr/>
            <p:nvPr/>
          </p:nvSpPr>
          <p:spPr>
            <a:xfrm>
              <a:off x="0" y="4050268"/>
              <a:ext cx="91440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3327" name="TextBox 15"/>
            <p:cNvSpPr txBox="1">
              <a:spLocks noChangeArrowheads="1"/>
            </p:cNvSpPr>
            <p:nvPr/>
          </p:nvSpPr>
          <p:spPr bwMode="auto">
            <a:xfrm>
              <a:off x="367222" y="4202668"/>
              <a:ext cx="84670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a:r>
                <a:rPr lang="en-US" dirty="0" err="1"/>
                <a:t>Manoa</a:t>
              </a:r>
              <a:endParaRPr lang="en-US" dirty="0"/>
            </a:p>
          </p:txBody>
        </p:sp>
        <p:sp>
          <p:nvSpPr>
            <p:cNvPr id="13328" name="TextBox 18"/>
            <p:cNvSpPr txBox="1">
              <a:spLocks noChangeArrowheads="1"/>
            </p:cNvSpPr>
            <p:nvPr/>
          </p:nvSpPr>
          <p:spPr bwMode="auto">
            <a:xfrm>
              <a:off x="3227835" y="4202668"/>
              <a:ext cx="8595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a:r>
                <a:rPr lang="en-US" dirty="0"/>
                <a:t>Waikiki</a:t>
              </a:r>
            </a:p>
          </p:txBody>
        </p:sp>
        <p:sp>
          <p:nvSpPr>
            <p:cNvPr id="13329" name="TextBox 20"/>
            <p:cNvSpPr txBox="1">
              <a:spLocks noChangeArrowheads="1"/>
            </p:cNvSpPr>
            <p:nvPr/>
          </p:nvSpPr>
          <p:spPr bwMode="auto">
            <a:xfrm>
              <a:off x="4495800" y="4202668"/>
              <a:ext cx="47069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t>Walking is a solution although most will drive</a:t>
              </a:r>
            </a:p>
          </p:txBody>
        </p:sp>
      </p:grpSp>
      <p:grpSp>
        <p:nvGrpSpPr>
          <p:cNvPr id="24" name="Group 34"/>
          <p:cNvGrpSpPr>
            <a:grpSpLocks/>
          </p:cNvGrpSpPr>
          <p:nvPr/>
        </p:nvGrpSpPr>
        <p:grpSpPr bwMode="auto">
          <a:xfrm>
            <a:off x="268638" y="4876800"/>
            <a:ext cx="7835550" cy="380445"/>
            <a:chOff x="268638" y="4876800"/>
            <a:chExt cx="7835550" cy="380445"/>
          </a:xfrm>
        </p:grpSpPr>
        <p:sp>
          <p:nvSpPr>
            <p:cNvPr id="13323" name="TextBox 19"/>
            <p:cNvSpPr txBox="1">
              <a:spLocks noChangeArrowheads="1"/>
            </p:cNvSpPr>
            <p:nvPr/>
          </p:nvSpPr>
          <p:spPr bwMode="auto">
            <a:xfrm>
              <a:off x="3316288" y="4876800"/>
              <a:ext cx="704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a:r>
                <a:rPr lang="en-US"/>
                <a:t>Paris</a:t>
              </a:r>
            </a:p>
          </p:txBody>
        </p:sp>
        <p:sp>
          <p:nvSpPr>
            <p:cNvPr id="13324" name="TextBox 21"/>
            <p:cNvSpPr txBox="1">
              <a:spLocks noChangeArrowheads="1"/>
            </p:cNvSpPr>
            <p:nvPr/>
          </p:nvSpPr>
          <p:spPr bwMode="auto">
            <a:xfrm>
              <a:off x="268638" y="4887913"/>
              <a:ext cx="104387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a:r>
                <a:rPr lang="en-US" dirty="0"/>
                <a:t>Honolulu</a:t>
              </a:r>
            </a:p>
          </p:txBody>
        </p:sp>
        <p:sp>
          <p:nvSpPr>
            <p:cNvPr id="13325" name="TextBox 25"/>
            <p:cNvSpPr txBox="1">
              <a:spLocks noChangeArrowheads="1"/>
            </p:cNvSpPr>
            <p:nvPr/>
          </p:nvSpPr>
          <p:spPr bwMode="auto">
            <a:xfrm>
              <a:off x="4565650" y="4876800"/>
              <a:ext cx="35385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t>Walking is an impossible solution</a:t>
              </a:r>
            </a:p>
          </p:txBody>
        </p:sp>
      </p:grpSp>
      <p:sp>
        <p:nvSpPr>
          <p:cNvPr id="29" name="TextBox 28"/>
          <p:cNvSpPr txBox="1">
            <a:spLocks noChangeArrowheads="1"/>
          </p:cNvSpPr>
          <p:nvPr/>
        </p:nvSpPr>
        <p:spPr bwMode="auto">
          <a:xfrm>
            <a:off x="1188132" y="1866090"/>
            <a:ext cx="229838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400" dirty="0"/>
              <a:t>How to displace from A to B?</a:t>
            </a:r>
          </a:p>
        </p:txBody>
      </p:sp>
      <p:sp>
        <p:nvSpPr>
          <p:cNvPr id="31" name="TextBox 30"/>
          <p:cNvSpPr txBox="1"/>
          <p:nvPr/>
        </p:nvSpPr>
        <p:spPr>
          <a:xfrm>
            <a:off x="0" y="5684043"/>
            <a:ext cx="9144000" cy="366713"/>
          </a:xfrm>
          <a:prstGeom prst="rect">
            <a:avLst/>
          </a:prstGeom>
          <a:solidFill>
            <a:schemeClr val="bg1">
              <a:lumMod val="85000"/>
            </a:schemeClr>
          </a:solidFill>
        </p:spPr>
        <p:txBody>
          <a:bodyPr>
            <a:spAutoFit/>
          </a:bodyPr>
          <a:lstStyle/>
          <a:p>
            <a:pPr algn="ctr" fontAlgn="auto">
              <a:spcBef>
                <a:spcPts val="0"/>
              </a:spcBef>
              <a:spcAft>
                <a:spcPts val="0"/>
              </a:spcAft>
              <a:defRPr/>
            </a:pPr>
            <a:r>
              <a:rPr lang="en-US" dirty="0">
                <a:latin typeface="+mn-lt"/>
                <a:cs typeface="+mn-cs"/>
              </a:rPr>
              <a:t>If you get your facts at a small scale, that does not mean they will apply to a larger scale</a:t>
            </a:r>
          </a:p>
        </p:txBody>
      </p:sp>
    </p:spTree>
    <p:extLst>
      <p:ext uri="{BB962C8B-B14F-4D97-AF65-F5344CB8AC3E}">
        <p14:creationId xmlns:p14="http://schemas.microsoft.com/office/powerpoint/2010/main" val="33086014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par>
                          <p:cTn id="11" fill="hold" nodeType="withGroup">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29"/>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nodeType="clickEffect">
                                  <p:stCondLst>
                                    <p:cond delay="0"/>
                                  </p:stCondLst>
                                  <p:childTnLst>
                                    <p:set>
                                      <p:cBhvr>
                                        <p:cTn id="29" dur="1" fill="hold">
                                          <p:stCondLst>
                                            <p:cond delay="0"/>
                                          </p:stCondLst>
                                        </p:cTn>
                                        <p:tgtEl>
                                          <p:spTgt spid="23"/>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nodeType="clickEffect">
                                  <p:stCondLst>
                                    <p:cond delay="0"/>
                                  </p:stCondLst>
                                  <p:childTnLst>
                                    <p:set>
                                      <p:cBhvr>
                                        <p:cTn id="33" dur="1" fill="hold">
                                          <p:stCondLst>
                                            <p:cond delay="0"/>
                                          </p:stCondLst>
                                        </p:cTn>
                                        <p:tgtEl>
                                          <p:spTgt spid="24"/>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p:bldP spid="29" grpId="0"/>
      <p:bldP spid="3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1"/>
          <p:cNvSpPr txBox="1">
            <a:spLocks noChangeArrowheads="1"/>
          </p:cNvSpPr>
          <p:nvPr/>
        </p:nvSpPr>
        <p:spPr bwMode="auto">
          <a:xfrm>
            <a:off x="0" y="45372"/>
            <a:ext cx="9144000" cy="461665"/>
          </a:xfrm>
          <a:prstGeom prst="rect">
            <a:avLst/>
          </a:prstGeom>
          <a:solidFill>
            <a:schemeClr val="bg1">
              <a:lumMod val="95000"/>
            </a:schemeClr>
          </a:solidFill>
          <a:ln>
            <a:noFill/>
          </a:ln>
          <a:effec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sz="2400" dirty="0">
                <a:latin typeface="Times New Roman" pitchFamily="18" charset="0"/>
              </a:rPr>
              <a:t>So why is this shift to large scale ecology has not happened?</a:t>
            </a:r>
          </a:p>
        </p:txBody>
      </p:sp>
      <p:graphicFrame>
        <p:nvGraphicFramePr>
          <p:cNvPr id="5" name="Chart 4"/>
          <p:cNvGraphicFramePr/>
          <p:nvPr>
            <p:extLst>
              <p:ext uri="{D42A27DB-BD31-4B8C-83A1-F6EECF244321}">
                <p14:modId xmlns:p14="http://schemas.microsoft.com/office/powerpoint/2010/main" val="1306738476"/>
              </p:ext>
            </p:extLst>
          </p:nvPr>
        </p:nvGraphicFramePr>
        <p:xfrm>
          <a:off x="72000" y="1351804"/>
          <a:ext cx="6096000" cy="4064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p:cNvGraphicFramePr/>
          <p:nvPr>
            <p:extLst>
              <p:ext uri="{D42A27DB-BD31-4B8C-83A1-F6EECF244321}">
                <p14:modId xmlns:p14="http://schemas.microsoft.com/office/powerpoint/2010/main" val="3586867631"/>
              </p:ext>
            </p:extLst>
          </p:nvPr>
        </p:nvGraphicFramePr>
        <p:xfrm>
          <a:off x="72000" y="1350737"/>
          <a:ext cx="6096000" cy="4064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7" name="Chart 6"/>
          <p:cNvGraphicFramePr/>
          <p:nvPr>
            <p:extLst>
              <p:ext uri="{D42A27DB-BD31-4B8C-83A1-F6EECF244321}">
                <p14:modId xmlns:p14="http://schemas.microsoft.com/office/powerpoint/2010/main" val="1948431738"/>
              </p:ext>
            </p:extLst>
          </p:nvPr>
        </p:nvGraphicFramePr>
        <p:xfrm>
          <a:off x="72000" y="1350737"/>
          <a:ext cx="6096000" cy="4064000"/>
        </p:xfrm>
        <a:graphic>
          <a:graphicData uri="http://schemas.openxmlformats.org/drawingml/2006/chart">
            <c:chart xmlns:c="http://schemas.openxmlformats.org/drawingml/2006/chart" xmlns:r="http://schemas.openxmlformats.org/officeDocument/2006/relationships" r:id="rId5"/>
          </a:graphicData>
        </a:graphic>
      </p:graphicFrame>
      <p:sp>
        <p:nvSpPr>
          <p:cNvPr id="8" name="TextBox 7"/>
          <p:cNvSpPr txBox="1"/>
          <p:nvPr/>
        </p:nvSpPr>
        <p:spPr>
          <a:xfrm>
            <a:off x="1287467" y="1154668"/>
            <a:ext cx="1608133" cy="369332"/>
          </a:xfrm>
          <a:prstGeom prst="rect">
            <a:avLst/>
          </a:prstGeom>
          <a:noFill/>
        </p:spPr>
        <p:txBody>
          <a:bodyPr wrap="none" rtlCol="0">
            <a:spAutoFit/>
          </a:bodyPr>
          <a:lstStyle/>
          <a:p>
            <a:r>
              <a:rPr lang="en-US" b="1" dirty="0">
                <a:solidFill>
                  <a:srgbClr val="FF0000"/>
                </a:solidFill>
              </a:rPr>
              <a:t>Lots of fun!!!</a:t>
            </a:r>
            <a:endParaRPr lang="en-CA" b="1" dirty="0">
              <a:solidFill>
                <a:srgbClr val="FF0000"/>
              </a:solidFill>
            </a:endParaRPr>
          </a:p>
        </p:txBody>
      </p:sp>
      <p:sp>
        <p:nvSpPr>
          <p:cNvPr id="9" name="TextBox 8"/>
          <p:cNvSpPr txBox="1"/>
          <p:nvPr/>
        </p:nvSpPr>
        <p:spPr>
          <a:xfrm>
            <a:off x="4282499" y="4563872"/>
            <a:ext cx="928459" cy="369332"/>
          </a:xfrm>
          <a:prstGeom prst="rect">
            <a:avLst/>
          </a:prstGeom>
          <a:noFill/>
        </p:spPr>
        <p:txBody>
          <a:bodyPr wrap="none" rtlCol="0">
            <a:spAutoFit/>
          </a:bodyPr>
          <a:lstStyle/>
          <a:p>
            <a:r>
              <a:rPr lang="en-US" b="1" dirty="0">
                <a:solidFill>
                  <a:srgbClr val="FF0000"/>
                </a:solidFill>
              </a:rPr>
              <a:t>Boring</a:t>
            </a:r>
            <a:endParaRPr lang="en-CA" b="1" dirty="0">
              <a:solidFill>
                <a:srgbClr val="FF0000"/>
              </a:solidFill>
            </a:endParaRPr>
          </a:p>
        </p:txBody>
      </p:sp>
      <p:sp>
        <p:nvSpPr>
          <p:cNvPr id="10" name="TextBox 9"/>
          <p:cNvSpPr txBox="1"/>
          <p:nvPr/>
        </p:nvSpPr>
        <p:spPr>
          <a:xfrm>
            <a:off x="3751283" y="4089737"/>
            <a:ext cx="2039917" cy="369332"/>
          </a:xfrm>
          <a:prstGeom prst="rect">
            <a:avLst/>
          </a:prstGeom>
          <a:solidFill>
            <a:schemeClr val="bg1"/>
          </a:solidFill>
        </p:spPr>
        <p:txBody>
          <a:bodyPr wrap="none" rtlCol="0">
            <a:spAutoFit/>
          </a:bodyPr>
          <a:lstStyle/>
          <a:p>
            <a:r>
              <a:rPr lang="en-US" b="1" dirty="0">
                <a:solidFill>
                  <a:srgbClr val="FF0000"/>
                </a:solidFill>
              </a:rPr>
              <a:t>Very, very boring</a:t>
            </a:r>
            <a:endParaRPr lang="en-CA" b="1" dirty="0">
              <a:solidFill>
                <a:srgbClr val="FF0000"/>
              </a:solidFill>
            </a:endParaRPr>
          </a:p>
        </p:txBody>
      </p:sp>
      <p:sp>
        <p:nvSpPr>
          <p:cNvPr id="12" name="TextBox 11"/>
          <p:cNvSpPr txBox="1"/>
          <p:nvPr/>
        </p:nvSpPr>
        <p:spPr>
          <a:xfrm>
            <a:off x="5638800" y="5689937"/>
            <a:ext cx="3266304" cy="1015663"/>
          </a:xfrm>
          <a:prstGeom prst="rect">
            <a:avLst/>
          </a:prstGeom>
          <a:noFill/>
        </p:spPr>
        <p:txBody>
          <a:bodyPr wrap="square" rtlCol="0">
            <a:spAutoFit/>
          </a:bodyPr>
          <a:lstStyle/>
          <a:p>
            <a:pPr algn="ctr"/>
            <a:r>
              <a:rPr lang="en-US" sz="2000" b="1" dirty="0">
                <a:solidFill>
                  <a:srgbClr val="FF0000"/>
                </a:solidFill>
              </a:rPr>
              <a:t>We have millions of data, yet a handful of large scale analyses</a:t>
            </a:r>
            <a:endParaRPr lang="en-CA" sz="2000" b="1" dirty="0">
              <a:solidFill>
                <a:srgbClr val="FF0000"/>
              </a:solidFill>
            </a:endParaRPr>
          </a:p>
        </p:txBody>
      </p:sp>
      <p:sp>
        <p:nvSpPr>
          <p:cNvPr id="13" name="Freeform 12"/>
          <p:cNvSpPr/>
          <p:nvPr/>
        </p:nvSpPr>
        <p:spPr>
          <a:xfrm>
            <a:off x="4456497" y="3261162"/>
            <a:ext cx="2829827" cy="2464068"/>
          </a:xfrm>
          <a:custGeom>
            <a:avLst/>
            <a:gdLst>
              <a:gd name="connsiteX0" fmla="*/ 0 w 2829827"/>
              <a:gd name="connsiteY0" fmla="*/ 0 h 2464068"/>
              <a:gd name="connsiteX1" fmla="*/ 2021305 w 2829827"/>
              <a:gd name="connsiteY1" fmla="*/ 693019 h 2464068"/>
              <a:gd name="connsiteX2" fmla="*/ 2829827 w 2829827"/>
              <a:gd name="connsiteY2" fmla="*/ 2464068 h 2464068"/>
            </a:gdLst>
            <a:ahLst/>
            <a:cxnLst>
              <a:cxn ang="0">
                <a:pos x="connsiteX0" y="connsiteY0"/>
              </a:cxn>
              <a:cxn ang="0">
                <a:pos x="connsiteX1" y="connsiteY1"/>
              </a:cxn>
              <a:cxn ang="0">
                <a:pos x="connsiteX2" y="connsiteY2"/>
              </a:cxn>
            </a:cxnLst>
            <a:rect l="l" t="t" r="r" b="b"/>
            <a:pathLst>
              <a:path w="2829827" h="2464068">
                <a:moveTo>
                  <a:pt x="0" y="0"/>
                </a:moveTo>
                <a:cubicBezTo>
                  <a:pt x="774833" y="141170"/>
                  <a:pt x="1549667" y="282341"/>
                  <a:pt x="2021305" y="693019"/>
                </a:cubicBezTo>
                <a:cubicBezTo>
                  <a:pt x="2492943" y="1103697"/>
                  <a:pt x="2661385" y="1783882"/>
                  <a:pt x="2829827" y="2464068"/>
                </a:cubicBezTo>
              </a:path>
            </a:pathLst>
          </a:custGeom>
          <a:noFill/>
          <a:ln w="76200">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Text Box 5"/>
          <p:cNvSpPr txBox="1">
            <a:spLocks noChangeArrowheads="1"/>
          </p:cNvSpPr>
          <p:nvPr/>
        </p:nvSpPr>
        <p:spPr bwMode="auto">
          <a:xfrm>
            <a:off x="0" y="591235"/>
            <a:ext cx="9144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sz="2000" dirty="0"/>
              <a:t>Reason 1: Interest</a:t>
            </a:r>
            <a:endParaRPr lang="es-ES" sz="2000" dirty="0"/>
          </a:p>
        </p:txBody>
      </p:sp>
    </p:spTree>
    <p:extLst>
      <p:ext uri="{BB962C8B-B14F-4D97-AF65-F5344CB8AC3E}">
        <p14:creationId xmlns:p14="http://schemas.microsoft.com/office/powerpoint/2010/main" val="2584764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up)">
                                      <p:cBhvr>
                                        <p:cTn id="31" dur="500"/>
                                        <p:tgtEl>
                                          <p:spTgt spid="13"/>
                                        </p:tgtEl>
                                      </p:cBhvr>
                                    </p:animEffect>
                                  </p:childTnLst>
                                </p:cTn>
                              </p:par>
                            </p:childTnLst>
                          </p:cTn>
                        </p:par>
                        <p:par>
                          <p:cTn id="32" fill="hold">
                            <p:stCondLst>
                              <p:cond delay="500"/>
                            </p:stCondLst>
                            <p:childTnLst>
                              <p:par>
                                <p:cTn id="33" presetID="1" presetClass="entr" presetSubtype="0" fill="hold" grpId="0" nodeType="after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Graphic spid="6" grpId="0">
        <p:bldAsOne/>
      </p:bldGraphic>
      <p:bldGraphic spid="7" grpId="0">
        <p:bldAsOne/>
      </p:bldGraphic>
      <p:bldP spid="8" grpId="0"/>
      <p:bldP spid="9" grpId="0"/>
      <p:bldP spid="10" grpId="0" animBg="1"/>
      <p:bldP spid="12" grpId="0"/>
      <p:bldP spid="1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5"/>
          <p:cNvSpPr txBox="1">
            <a:spLocks noChangeArrowheads="1"/>
          </p:cNvSpPr>
          <p:nvPr/>
        </p:nvSpPr>
        <p:spPr bwMode="auto">
          <a:xfrm>
            <a:off x="0" y="591235"/>
            <a:ext cx="9144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sz="2000" dirty="0"/>
              <a:t>Reason 2: One will need to learn new tools, often outside our field of expertise</a:t>
            </a:r>
            <a:endParaRPr lang="es-ES" sz="2000" dirty="0"/>
          </a:p>
        </p:txBody>
      </p:sp>
      <p:sp>
        <p:nvSpPr>
          <p:cNvPr id="13318" name="Text Box 6"/>
          <p:cNvSpPr txBox="1">
            <a:spLocks noChangeArrowheads="1"/>
          </p:cNvSpPr>
          <p:nvPr/>
        </p:nvSpPr>
        <p:spPr bwMode="auto">
          <a:xfrm>
            <a:off x="304799" y="1752600"/>
            <a:ext cx="283527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b="1" dirty="0">
                <a:cs typeface="Arial" charset="0"/>
              </a:rPr>
              <a:t>MEGA</a:t>
            </a:r>
          </a:p>
          <a:p>
            <a:pPr eaLnBrk="1" hangingPunct="1"/>
            <a:r>
              <a:rPr lang="en-US" dirty="0">
                <a:cs typeface="Arial" charset="0"/>
              </a:rPr>
              <a:t>→ </a:t>
            </a:r>
            <a:r>
              <a:rPr lang="en-US" dirty="0"/>
              <a:t>management</a:t>
            </a:r>
          </a:p>
          <a:p>
            <a:pPr eaLnBrk="1" hangingPunct="1"/>
            <a:r>
              <a:rPr lang="en-US" dirty="0"/>
              <a:t>→ analysis</a:t>
            </a:r>
          </a:p>
          <a:p>
            <a:pPr eaLnBrk="1" hangingPunct="1"/>
            <a:r>
              <a:rPr lang="en-US" dirty="0"/>
              <a:t>→ visualization</a:t>
            </a:r>
          </a:p>
        </p:txBody>
      </p:sp>
      <p:sp>
        <p:nvSpPr>
          <p:cNvPr id="13319" name="Text Box 7"/>
          <p:cNvSpPr txBox="1">
            <a:spLocks noChangeArrowheads="1"/>
          </p:cNvSpPr>
          <p:nvPr/>
        </p:nvSpPr>
        <p:spPr bwMode="auto">
          <a:xfrm>
            <a:off x="0" y="5715000"/>
            <a:ext cx="220980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a:t>Access, Excel, Pivot table, ArcGis, Visual Basic </a:t>
            </a:r>
            <a:endParaRPr lang="es-ES"/>
          </a:p>
        </p:txBody>
      </p:sp>
      <p:sp>
        <p:nvSpPr>
          <p:cNvPr id="13321" name="Rectangle 9"/>
          <p:cNvSpPr>
            <a:spLocks noChangeArrowheads="1"/>
          </p:cNvSpPr>
          <p:nvPr/>
        </p:nvSpPr>
        <p:spPr bwMode="auto">
          <a:xfrm>
            <a:off x="76200" y="4038600"/>
            <a:ext cx="190500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t>Statistica, R, SPlus, Matlab, Aurora, etc</a:t>
            </a:r>
            <a:endParaRPr lang="es-ES"/>
          </a:p>
        </p:txBody>
      </p:sp>
      <p:grpSp>
        <p:nvGrpSpPr>
          <p:cNvPr id="13328" name="Group 16"/>
          <p:cNvGrpSpPr>
            <a:grpSpLocks/>
          </p:cNvGrpSpPr>
          <p:nvPr/>
        </p:nvGrpSpPr>
        <p:grpSpPr bwMode="auto">
          <a:xfrm>
            <a:off x="1905000" y="1143000"/>
            <a:ext cx="7239000" cy="5695950"/>
            <a:chOff x="1200" y="720"/>
            <a:chExt cx="4560" cy="3588"/>
          </a:xfrm>
        </p:grpSpPr>
        <p:pic>
          <p:nvPicPr>
            <p:cNvPr id="615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4" y="720"/>
              <a:ext cx="3456" cy="3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156" name="Group 12"/>
            <p:cNvGrpSpPr>
              <a:grpSpLocks/>
            </p:cNvGrpSpPr>
            <p:nvPr/>
          </p:nvGrpSpPr>
          <p:grpSpPr bwMode="auto">
            <a:xfrm>
              <a:off x="1200" y="2688"/>
              <a:ext cx="1008" cy="192"/>
              <a:chOff x="1200" y="2592"/>
              <a:chExt cx="1008" cy="192"/>
            </a:xfrm>
          </p:grpSpPr>
          <p:sp>
            <p:nvSpPr>
              <p:cNvPr id="6157" name="Line 10"/>
              <p:cNvSpPr>
                <a:spLocks noChangeShapeType="1"/>
              </p:cNvSpPr>
              <p:nvPr/>
            </p:nvSpPr>
            <p:spPr bwMode="auto">
              <a:xfrm>
                <a:off x="1200" y="2784"/>
                <a:ext cx="1008"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6158" name="Text Box 11"/>
              <p:cNvSpPr txBox="1">
                <a:spLocks noChangeArrowheads="1"/>
              </p:cNvSpPr>
              <p:nvPr/>
            </p:nvSpPr>
            <p:spPr bwMode="auto">
              <a:xfrm>
                <a:off x="1200" y="2592"/>
                <a:ext cx="94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400"/>
                  <a:t>Very intimidating</a:t>
                </a:r>
                <a:endParaRPr lang="es-ES" sz="1400"/>
              </a:p>
            </p:txBody>
          </p:sp>
        </p:grpSp>
      </p:grpSp>
      <p:sp>
        <p:nvSpPr>
          <p:cNvPr id="13325" name="Rectangle 13"/>
          <p:cNvSpPr>
            <a:spLocks noChangeArrowheads="1"/>
          </p:cNvSpPr>
          <p:nvPr/>
        </p:nvSpPr>
        <p:spPr bwMode="auto">
          <a:xfrm>
            <a:off x="152400" y="3352800"/>
            <a:ext cx="2927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The array of tools includes:</a:t>
            </a:r>
            <a:endParaRPr lang="es-ES"/>
          </a:p>
        </p:txBody>
      </p:sp>
      <p:grpSp>
        <p:nvGrpSpPr>
          <p:cNvPr id="13327" name="Group 15"/>
          <p:cNvGrpSpPr>
            <a:grpSpLocks/>
          </p:cNvGrpSpPr>
          <p:nvPr/>
        </p:nvGrpSpPr>
        <p:grpSpPr bwMode="auto">
          <a:xfrm>
            <a:off x="76200" y="4953000"/>
            <a:ext cx="2025650" cy="762000"/>
            <a:chOff x="48" y="3120"/>
            <a:chExt cx="1276" cy="480"/>
          </a:xfrm>
        </p:grpSpPr>
        <p:sp>
          <p:nvSpPr>
            <p:cNvPr id="6153" name="Line 8"/>
            <p:cNvSpPr>
              <a:spLocks noChangeShapeType="1"/>
            </p:cNvSpPr>
            <p:nvPr/>
          </p:nvSpPr>
          <p:spPr bwMode="auto">
            <a:xfrm>
              <a:off x="672" y="3120"/>
              <a:ext cx="0" cy="48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6154" name="Text Box 14"/>
            <p:cNvSpPr txBox="1">
              <a:spLocks noChangeArrowheads="1"/>
            </p:cNvSpPr>
            <p:nvPr/>
          </p:nvSpPr>
          <p:spPr bwMode="auto">
            <a:xfrm>
              <a:off x="48" y="3216"/>
              <a:ext cx="1276" cy="19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sz="1400"/>
                <a:t>More friendly interfaces</a:t>
              </a:r>
              <a:endParaRPr lang="es-ES" sz="1400"/>
            </a:p>
          </p:txBody>
        </p:sp>
      </p:grpSp>
      <p:sp>
        <p:nvSpPr>
          <p:cNvPr id="15" name="Text Box 11"/>
          <p:cNvSpPr txBox="1">
            <a:spLocks noChangeArrowheads="1"/>
          </p:cNvSpPr>
          <p:nvPr/>
        </p:nvSpPr>
        <p:spPr bwMode="auto">
          <a:xfrm>
            <a:off x="0" y="0"/>
            <a:ext cx="9144000" cy="461665"/>
          </a:xfrm>
          <a:prstGeom prst="rect">
            <a:avLst/>
          </a:prstGeom>
          <a:solidFill>
            <a:schemeClr val="bg1">
              <a:lumMod val="95000"/>
            </a:schemeClr>
          </a:solidFill>
          <a:ln>
            <a:noFill/>
          </a:ln>
          <a:effec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sz="2400" dirty="0">
                <a:latin typeface="Times New Roman" pitchFamily="18" charset="0"/>
              </a:rPr>
              <a:t>So why is this shift has not happened?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1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325"/>
                                        </p:tgtEl>
                                        <p:attrNameLst>
                                          <p:attrName>style.visibility</p:attrName>
                                        </p:attrNameLst>
                                      </p:cBhvr>
                                      <p:to>
                                        <p:strVal val="visible"/>
                                      </p:to>
                                    </p:set>
                                  </p:childTnLst>
                                </p:cTn>
                              </p:par>
                            </p:childTnLst>
                          </p:cTn>
                        </p:par>
                        <p:par>
                          <p:cTn id="11" fill="hold" nodeType="afterGroup">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13321"/>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13328"/>
                                        </p:tgtEl>
                                        <p:attrNameLst>
                                          <p:attrName>style.visibility</p:attrName>
                                        </p:attrNameLst>
                                      </p:cBhvr>
                                      <p:to>
                                        <p:strVal val="visible"/>
                                      </p:to>
                                    </p:set>
                                    <p:animEffect transition="in" filter="wipe(left)">
                                      <p:cBhvr>
                                        <p:cTn id="18" dur="500"/>
                                        <p:tgtEl>
                                          <p:spTgt spid="13328"/>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nodeType="clickEffect">
                                  <p:stCondLst>
                                    <p:cond delay="0"/>
                                  </p:stCondLst>
                                  <p:childTnLst>
                                    <p:set>
                                      <p:cBhvr>
                                        <p:cTn id="22" dur="1" fill="hold">
                                          <p:stCondLst>
                                            <p:cond delay="0"/>
                                          </p:stCondLst>
                                        </p:cTn>
                                        <p:tgtEl>
                                          <p:spTgt spid="13327"/>
                                        </p:tgtEl>
                                        <p:attrNameLst>
                                          <p:attrName>style.visibility</p:attrName>
                                        </p:attrNameLst>
                                      </p:cBhvr>
                                      <p:to>
                                        <p:strVal val="visible"/>
                                      </p:to>
                                    </p:set>
                                    <p:animEffect transition="in" filter="wipe(up)">
                                      <p:cBhvr>
                                        <p:cTn id="23" dur="500"/>
                                        <p:tgtEl>
                                          <p:spTgt spid="13327"/>
                                        </p:tgtEl>
                                      </p:cBhvr>
                                    </p:animEffect>
                                  </p:childTnLst>
                                </p:cTn>
                              </p:par>
                            </p:childTnLst>
                          </p:cTn>
                        </p:par>
                        <p:par>
                          <p:cTn id="24" fill="hold" nodeType="afterGroup">
                            <p:stCondLst>
                              <p:cond delay="500"/>
                            </p:stCondLst>
                            <p:childTnLst>
                              <p:par>
                                <p:cTn id="25" presetID="1" presetClass="entr" presetSubtype="0" fill="hold" grpId="0" nodeType="afterEffect">
                                  <p:stCondLst>
                                    <p:cond delay="0"/>
                                  </p:stCondLst>
                                  <p:childTnLst>
                                    <p:set>
                                      <p:cBhvr>
                                        <p:cTn id="26" dur="1" fill="hold">
                                          <p:stCondLst>
                                            <p:cond delay="0"/>
                                          </p:stCondLst>
                                        </p:cTn>
                                        <p:tgtEl>
                                          <p:spTgt spid="133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8" grpId="0"/>
      <p:bldP spid="13319" grpId="0"/>
      <p:bldP spid="13321" grpId="0"/>
      <p:bldP spid="1332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7" name="Text Box 22"/>
          <p:cNvSpPr txBox="1">
            <a:spLocks noChangeArrowheads="1"/>
          </p:cNvSpPr>
          <p:nvPr/>
        </p:nvSpPr>
        <p:spPr bwMode="auto">
          <a:xfrm>
            <a:off x="1" y="0"/>
            <a:ext cx="914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dirty="0"/>
              <a:t>However, at times the effort pays off!!</a:t>
            </a:r>
            <a:endParaRPr lang="es-ES" dirty="0"/>
          </a:p>
        </p:txBody>
      </p:sp>
      <p:grpSp>
        <p:nvGrpSpPr>
          <p:cNvPr id="9" name="Group 8"/>
          <p:cNvGrpSpPr/>
          <p:nvPr/>
        </p:nvGrpSpPr>
        <p:grpSpPr>
          <a:xfrm>
            <a:off x="1" y="375409"/>
            <a:ext cx="9144000" cy="3699911"/>
            <a:chOff x="1" y="375409"/>
            <a:chExt cx="9144000" cy="3699911"/>
          </a:xfrm>
        </p:grpSpPr>
        <p:grpSp>
          <p:nvGrpSpPr>
            <p:cNvPr id="7" name="Group 6"/>
            <p:cNvGrpSpPr/>
            <p:nvPr/>
          </p:nvGrpSpPr>
          <p:grpSpPr>
            <a:xfrm>
              <a:off x="1" y="695040"/>
              <a:ext cx="9144000" cy="3380280"/>
              <a:chOff x="1" y="184666"/>
              <a:chExt cx="9144000" cy="3380280"/>
            </a:xfrm>
          </p:grpSpPr>
          <p:sp>
            <p:nvSpPr>
              <p:cNvPr id="6" name="Rectangle 5"/>
              <p:cNvSpPr/>
              <p:nvPr/>
            </p:nvSpPr>
            <p:spPr>
              <a:xfrm>
                <a:off x="1" y="184666"/>
                <a:ext cx="9144000" cy="33802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grpSp>
            <p:nvGrpSpPr>
              <p:cNvPr id="4104" name="Group 17"/>
              <p:cNvGrpSpPr>
                <a:grpSpLocks/>
              </p:cNvGrpSpPr>
              <p:nvPr/>
            </p:nvGrpSpPr>
            <p:grpSpPr bwMode="auto">
              <a:xfrm>
                <a:off x="888758" y="685768"/>
                <a:ext cx="3181350" cy="2514601"/>
                <a:chOff x="4758" y="43"/>
                <a:chExt cx="2004" cy="1584"/>
              </a:xfrm>
            </p:grpSpPr>
            <p:graphicFrame>
              <p:nvGraphicFramePr>
                <p:cNvPr id="4108" name="Object 18"/>
                <p:cNvGraphicFramePr>
                  <a:graphicFrameLocks noChangeAspect="1"/>
                </p:cNvGraphicFramePr>
                <p:nvPr>
                  <p:extLst>
                    <p:ext uri="{D42A27DB-BD31-4B8C-83A1-F6EECF244321}">
                      <p14:modId xmlns:p14="http://schemas.microsoft.com/office/powerpoint/2010/main" val="3542204147"/>
                    </p:ext>
                  </p:extLst>
                </p:nvPr>
              </p:nvGraphicFramePr>
              <p:xfrm>
                <a:off x="4978" y="275"/>
                <a:ext cx="1509" cy="1352"/>
              </p:xfrm>
              <a:graphic>
                <a:graphicData uri="http://schemas.openxmlformats.org/presentationml/2006/ole">
                  <mc:AlternateContent xmlns:mc="http://schemas.openxmlformats.org/markup-compatibility/2006">
                    <mc:Choice xmlns:v="urn:schemas-microsoft-com:vml" Requires="v">
                      <p:oleObj spid="_x0000_s4225" name="Bitmap Image" r:id="rId4" imgW="5477640" imgH="4904762" progId="Paint.Picture">
                        <p:embed/>
                      </p:oleObj>
                    </mc:Choice>
                    <mc:Fallback>
                      <p:oleObj name="Bitmap Image" r:id="rId4" imgW="5477640" imgH="4904762" progId="Paint.Picture">
                        <p:embed/>
                        <p:pic>
                          <p:nvPicPr>
                            <p:cNvPr id="0" name="Object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78" y="275"/>
                              <a:ext cx="1509" cy="13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09" name="Text Box 19"/>
                <p:cNvSpPr txBox="1">
                  <a:spLocks noChangeArrowheads="1"/>
                </p:cNvSpPr>
                <p:nvPr/>
              </p:nvSpPr>
              <p:spPr bwMode="auto">
                <a:xfrm>
                  <a:off x="4758" y="43"/>
                  <a:ext cx="200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sz="1600" dirty="0">
                      <a:latin typeface="Times New Roman" pitchFamily="18" charset="0"/>
                    </a:rPr>
                    <a:t>Bellwood and Hughes, Science 2001</a:t>
                  </a:r>
                </a:p>
              </p:txBody>
            </p:sp>
          </p:grpSp>
          <p:pic>
            <p:nvPicPr>
              <p:cNvPr id="4114" name="Picture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1" y="609600"/>
                <a:ext cx="3989912" cy="28511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33" name="Text Box 11"/>
            <p:cNvSpPr txBox="1">
              <a:spLocks noChangeArrowheads="1"/>
            </p:cNvSpPr>
            <p:nvPr/>
          </p:nvSpPr>
          <p:spPr bwMode="auto">
            <a:xfrm>
              <a:off x="1" y="375409"/>
              <a:ext cx="9143999" cy="346075"/>
            </a:xfrm>
            <a:prstGeom prst="rect">
              <a:avLst/>
            </a:prstGeom>
            <a:solidFill>
              <a:schemeClr val="bg1">
                <a:lumMod val="95000"/>
              </a:schemeClr>
            </a:solidFill>
            <a:ln w="9525">
              <a:noFill/>
              <a:miter lim="800000"/>
              <a:headEnd/>
              <a:tailEnd/>
            </a:ln>
            <a:effec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sz="1600" dirty="0">
                  <a:latin typeface="Times New Roman" pitchFamily="18" charset="0"/>
                </a:rPr>
                <a:t>Global patterns of fish and coral diversity</a:t>
              </a:r>
            </a:p>
          </p:txBody>
        </p:sp>
      </p:grpSp>
      <p:grpSp>
        <p:nvGrpSpPr>
          <p:cNvPr id="8" name="Group 7"/>
          <p:cNvGrpSpPr/>
          <p:nvPr/>
        </p:nvGrpSpPr>
        <p:grpSpPr>
          <a:xfrm>
            <a:off x="1" y="734010"/>
            <a:ext cx="9144000" cy="3380280"/>
            <a:chOff x="0" y="785780"/>
            <a:chExt cx="9144000" cy="3380280"/>
          </a:xfrm>
        </p:grpSpPr>
        <p:sp>
          <p:nvSpPr>
            <p:cNvPr id="30" name="Rectangle 29"/>
            <p:cNvSpPr/>
            <p:nvPr/>
          </p:nvSpPr>
          <p:spPr>
            <a:xfrm>
              <a:off x="0" y="785780"/>
              <a:ext cx="9144000" cy="338028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grpSp>
          <p:nvGrpSpPr>
            <p:cNvPr id="5" name="Group 4"/>
            <p:cNvGrpSpPr/>
            <p:nvPr/>
          </p:nvGrpSpPr>
          <p:grpSpPr>
            <a:xfrm>
              <a:off x="164725" y="1595119"/>
              <a:ext cx="3848100" cy="1757681"/>
              <a:chOff x="390525" y="3047445"/>
              <a:chExt cx="3848100" cy="1757681"/>
            </a:xfrm>
          </p:grpSpPr>
          <p:graphicFrame>
            <p:nvGraphicFramePr>
              <p:cNvPr id="4105" name="Object 10"/>
              <p:cNvGraphicFramePr>
                <a:graphicFrameLocks noGrp="1" noChangeAspect="1"/>
              </p:cNvGraphicFramePr>
              <p:nvPr>
                <p:ph sz="quarter" idx="2"/>
                <p:extLst>
                  <p:ext uri="{D42A27DB-BD31-4B8C-83A1-F6EECF244321}">
                    <p14:modId xmlns:p14="http://schemas.microsoft.com/office/powerpoint/2010/main" val="464067530"/>
                  </p:ext>
                </p:extLst>
              </p:nvPr>
            </p:nvGraphicFramePr>
            <p:xfrm>
              <a:off x="390525" y="3331926"/>
              <a:ext cx="3848100" cy="1473200"/>
            </p:xfrm>
            <a:graphic>
              <a:graphicData uri="http://schemas.openxmlformats.org/presentationml/2006/ole">
                <mc:AlternateContent xmlns:mc="http://schemas.openxmlformats.org/markup-compatibility/2006">
                  <mc:Choice xmlns:v="urn:schemas-microsoft-com:vml" Requires="v">
                    <p:oleObj spid="_x0000_s4226" name="Bitmap Image" r:id="rId7" imgW="4133333" imgH="1523810" progId="Paint.Picture">
                      <p:embed/>
                    </p:oleObj>
                  </mc:Choice>
                  <mc:Fallback>
                    <p:oleObj name="Bitmap Image" r:id="rId7" imgW="4133333" imgH="1523810" progId="Paint.Picture">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0525" y="3331926"/>
                            <a:ext cx="3848100" cy="147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06" name="Text Box 11"/>
              <p:cNvSpPr txBox="1">
                <a:spLocks noChangeArrowheads="1"/>
              </p:cNvSpPr>
              <p:nvPr/>
            </p:nvSpPr>
            <p:spPr bwMode="auto">
              <a:xfrm>
                <a:off x="439738" y="3047445"/>
                <a:ext cx="2303462" cy="346075"/>
              </a:xfrm>
              <a:prstGeom prst="rect">
                <a:avLst/>
              </a:prstGeom>
              <a:no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sz="1600" dirty="0">
                    <a:latin typeface="Times New Roman" pitchFamily="18" charset="0"/>
                  </a:rPr>
                  <a:t>Worm et al, Science 2005</a:t>
                </a:r>
              </a:p>
            </p:txBody>
          </p:sp>
        </p:grpSp>
        <p:pic>
          <p:nvPicPr>
            <p:cNvPr id="4135" name="Picture 39"/>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243255" y="1219200"/>
              <a:ext cx="4724400" cy="2852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 name="Text Box 11"/>
            <p:cNvSpPr txBox="1">
              <a:spLocks noChangeArrowheads="1"/>
            </p:cNvSpPr>
            <p:nvPr/>
          </p:nvSpPr>
          <p:spPr bwMode="auto">
            <a:xfrm>
              <a:off x="1" y="796925"/>
              <a:ext cx="9143999" cy="346075"/>
            </a:xfrm>
            <a:prstGeom prst="rect">
              <a:avLst/>
            </a:prstGeom>
            <a:solidFill>
              <a:schemeClr val="bg1">
                <a:lumMod val="85000"/>
              </a:schemeClr>
            </a:solidFill>
            <a:ln w="9525">
              <a:noFill/>
              <a:miter lim="800000"/>
              <a:headEnd/>
              <a:tailEnd/>
            </a:ln>
            <a:effec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sz="1600" dirty="0">
                  <a:latin typeface="Times New Roman" pitchFamily="18" charset="0"/>
                </a:rPr>
                <a:t>Global patterns of predator diversity</a:t>
              </a:r>
            </a:p>
          </p:txBody>
        </p:sp>
      </p:grpSp>
      <p:grpSp>
        <p:nvGrpSpPr>
          <p:cNvPr id="10" name="Group 9"/>
          <p:cNvGrpSpPr/>
          <p:nvPr/>
        </p:nvGrpSpPr>
        <p:grpSpPr>
          <a:xfrm>
            <a:off x="-1" y="1119974"/>
            <a:ext cx="9144002" cy="3401157"/>
            <a:chOff x="-1" y="3477720"/>
            <a:chExt cx="9144002" cy="3401157"/>
          </a:xfrm>
        </p:grpSpPr>
        <p:sp>
          <p:nvSpPr>
            <p:cNvPr id="35" name="Rectangle 34"/>
            <p:cNvSpPr/>
            <p:nvPr/>
          </p:nvSpPr>
          <p:spPr>
            <a:xfrm>
              <a:off x="-1" y="3498597"/>
              <a:ext cx="9144001" cy="3380280"/>
            </a:xfrm>
            <a:prstGeom prst="rect">
              <a:avLst/>
            </a:prstGeom>
            <a:solidFill>
              <a:schemeClr val="accent1">
                <a:lumMod val="5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6" name="Text Box 11"/>
            <p:cNvSpPr txBox="1">
              <a:spLocks noChangeArrowheads="1"/>
            </p:cNvSpPr>
            <p:nvPr/>
          </p:nvSpPr>
          <p:spPr bwMode="auto">
            <a:xfrm>
              <a:off x="2" y="3477720"/>
              <a:ext cx="9143999" cy="346075"/>
            </a:xfrm>
            <a:prstGeom prst="rect">
              <a:avLst/>
            </a:prstGeom>
            <a:solidFill>
              <a:schemeClr val="bg1">
                <a:lumMod val="75000"/>
              </a:schemeClr>
            </a:solidFill>
            <a:ln w="9525">
              <a:noFill/>
              <a:miter lim="800000"/>
              <a:headEnd/>
              <a:tailEnd/>
            </a:ln>
            <a:effec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sz="1600" dirty="0">
                  <a:latin typeface="Times New Roman" pitchFamily="18" charset="0"/>
                </a:rPr>
                <a:t>How many species are there on Earth and in the Ocean?</a:t>
              </a:r>
            </a:p>
          </p:txBody>
        </p:sp>
        <p:pic>
          <p:nvPicPr>
            <p:cNvPr id="4136" name="Picture 4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19600" y="3948503"/>
              <a:ext cx="3998384" cy="2860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4" name="Group 3"/>
            <p:cNvGrpSpPr/>
            <p:nvPr/>
          </p:nvGrpSpPr>
          <p:grpSpPr>
            <a:xfrm>
              <a:off x="1069158" y="3839092"/>
              <a:ext cx="2896486" cy="2970287"/>
              <a:chOff x="762000" y="3591569"/>
              <a:chExt cx="3105150" cy="3266431"/>
            </a:xfrm>
          </p:grpSpPr>
          <p:pic>
            <p:nvPicPr>
              <p:cNvPr id="4140" name="Picture 44"/>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762000" y="3909804"/>
                <a:ext cx="3105150" cy="2948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 name="Text Box 11"/>
              <p:cNvSpPr txBox="1">
                <a:spLocks noChangeArrowheads="1"/>
              </p:cNvSpPr>
              <p:nvPr/>
            </p:nvSpPr>
            <p:spPr bwMode="auto">
              <a:xfrm>
                <a:off x="1012583" y="3591569"/>
                <a:ext cx="2603983" cy="338554"/>
              </a:xfrm>
              <a:prstGeom prst="rect">
                <a:avLst/>
              </a:prstGeom>
              <a:no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sz="1600" dirty="0">
                    <a:latin typeface="Times New Roman" pitchFamily="18" charset="0"/>
                  </a:rPr>
                  <a:t>Mora et al, </a:t>
                </a:r>
                <a:r>
                  <a:rPr lang="en-US" sz="1600" dirty="0" err="1">
                    <a:latin typeface="Times New Roman" pitchFamily="18" charset="0"/>
                  </a:rPr>
                  <a:t>PlosBiology</a:t>
                </a:r>
                <a:r>
                  <a:rPr lang="en-US" sz="1600" dirty="0">
                    <a:latin typeface="Times New Roman" pitchFamily="18" charset="0"/>
                  </a:rPr>
                  <a:t> 2011</a:t>
                </a:r>
              </a:p>
            </p:txBody>
          </p:sp>
        </p:grpSp>
      </p:grpSp>
      <p:grpSp>
        <p:nvGrpSpPr>
          <p:cNvPr id="12" name="Group 11"/>
          <p:cNvGrpSpPr/>
          <p:nvPr/>
        </p:nvGrpSpPr>
        <p:grpSpPr>
          <a:xfrm>
            <a:off x="-2" y="1496520"/>
            <a:ext cx="9144002" cy="3380280"/>
            <a:chOff x="-1" y="1889424"/>
            <a:chExt cx="9144002" cy="3380280"/>
          </a:xfrm>
        </p:grpSpPr>
        <p:sp>
          <p:nvSpPr>
            <p:cNvPr id="39" name="Rectangle 38"/>
            <p:cNvSpPr/>
            <p:nvPr/>
          </p:nvSpPr>
          <p:spPr>
            <a:xfrm>
              <a:off x="-1" y="1889424"/>
              <a:ext cx="9144001" cy="338028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4155" name="Picture 59"/>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4526220" y="2569094"/>
              <a:ext cx="3897626" cy="2383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0" name="Text Box 11"/>
            <p:cNvSpPr txBox="1">
              <a:spLocks noChangeArrowheads="1"/>
            </p:cNvSpPr>
            <p:nvPr/>
          </p:nvSpPr>
          <p:spPr bwMode="auto">
            <a:xfrm>
              <a:off x="2" y="1889424"/>
              <a:ext cx="9143999" cy="346075"/>
            </a:xfrm>
            <a:prstGeom prst="rect">
              <a:avLst/>
            </a:prstGeom>
            <a:solidFill>
              <a:schemeClr val="bg1">
                <a:lumMod val="65000"/>
              </a:schemeClr>
            </a:solidFill>
            <a:ln w="9525">
              <a:noFill/>
              <a:miter lim="800000"/>
              <a:headEnd/>
              <a:tailEnd/>
            </a:ln>
            <a:effec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sz="1600" dirty="0">
                  <a:latin typeface="Times New Roman" pitchFamily="18" charset="0"/>
                </a:rPr>
                <a:t>The collapse of biodiversity despite protected areas</a:t>
              </a:r>
            </a:p>
          </p:txBody>
        </p:sp>
        <p:pic>
          <p:nvPicPr>
            <p:cNvPr id="4156" name="Picture 6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40004" y="2627064"/>
              <a:ext cx="3078857" cy="2402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2" name="Text Box 11"/>
            <p:cNvSpPr txBox="1">
              <a:spLocks noChangeArrowheads="1"/>
            </p:cNvSpPr>
            <p:nvPr/>
          </p:nvSpPr>
          <p:spPr bwMode="auto">
            <a:xfrm>
              <a:off x="1010410" y="2237689"/>
              <a:ext cx="2288191" cy="338554"/>
            </a:xfrm>
            <a:prstGeom prst="rect">
              <a:avLst/>
            </a:prstGeom>
            <a:no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sz="1600" dirty="0">
                  <a:latin typeface="Times New Roman" pitchFamily="18" charset="0"/>
                </a:rPr>
                <a:t>Mora &amp; Sale </a:t>
              </a:r>
              <a:r>
                <a:rPr lang="en-US" sz="1600" dirty="0" err="1">
                  <a:latin typeface="Times New Roman" pitchFamily="18" charset="0"/>
                </a:rPr>
                <a:t>MEPS</a:t>
              </a:r>
              <a:r>
                <a:rPr lang="en-US" sz="1600" dirty="0">
                  <a:latin typeface="Times New Roman" pitchFamily="18" charset="0"/>
                </a:rPr>
                <a:t> 2011</a:t>
              </a:r>
            </a:p>
          </p:txBody>
        </p:sp>
      </p:grpSp>
      <p:grpSp>
        <p:nvGrpSpPr>
          <p:cNvPr id="13" name="Group 12"/>
          <p:cNvGrpSpPr/>
          <p:nvPr/>
        </p:nvGrpSpPr>
        <p:grpSpPr>
          <a:xfrm>
            <a:off x="0" y="1879850"/>
            <a:ext cx="9144005" cy="3408397"/>
            <a:chOff x="-2" y="1950163"/>
            <a:chExt cx="9144005" cy="3408397"/>
          </a:xfrm>
        </p:grpSpPr>
        <p:sp>
          <p:nvSpPr>
            <p:cNvPr id="46" name="Rectangle 45"/>
            <p:cNvSpPr/>
            <p:nvPr/>
          </p:nvSpPr>
          <p:spPr>
            <a:xfrm>
              <a:off x="2" y="1978280"/>
              <a:ext cx="9144001" cy="3380280"/>
            </a:xfrm>
            <a:prstGeom prst="rect">
              <a:avLst/>
            </a:prstGeom>
            <a:solidFill>
              <a:schemeClr val="accent1">
                <a:lumMod val="25000"/>
              </a:schemeClr>
            </a:solidFill>
            <a:ln>
              <a:solidFill>
                <a:schemeClr val="accent1">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7" name="Text Box 11"/>
            <p:cNvSpPr txBox="1">
              <a:spLocks noChangeArrowheads="1"/>
            </p:cNvSpPr>
            <p:nvPr/>
          </p:nvSpPr>
          <p:spPr bwMode="auto">
            <a:xfrm>
              <a:off x="-2" y="1950163"/>
              <a:ext cx="9143999" cy="346075"/>
            </a:xfrm>
            <a:prstGeom prst="rect">
              <a:avLst/>
            </a:prstGeom>
            <a:solidFill>
              <a:schemeClr val="bg1">
                <a:lumMod val="50000"/>
              </a:schemeClr>
            </a:solidFill>
            <a:ln w="9525">
              <a:noFill/>
              <a:miter lim="800000"/>
              <a:headEnd/>
              <a:tailEnd/>
            </a:ln>
            <a:effec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sz="1600" dirty="0">
                  <a:latin typeface="Times New Roman" pitchFamily="18" charset="0"/>
                </a:rPr>
                <a:t>The human footprint on coral reefs</a:t>
              </a:r>
            </a:p>
          </p:txBody>
        </p:sp>
        <p:pic>
          <p:nvPicPr>
            <p:cNvPr id="4159" name="Picture 63"/>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5765938" y="2385180"/>
              <a:ext cx="3278325" cy="2891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60" name="Picture 64"/>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195857" y="3186660"/>
              <a:ext cx="5201066" cy="1702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9" name="Text Box 11"/>
            <p:cNvSpPr txBox="1">
              <a:spLocks noChangeArrowheads="1"/>
            </p:cNvSpPr>
            <p:nvPr/>
          </p:nvSpPr>
          <p:spPr bwMode="auto">
            <a:xfrm>
              <a:off x="213939" y="2830991"/>
              <a:ext cx="2655279" cy="338554"/>
            </a:xfrm>
            <a:prstGeom prst="rect">
              <a:avLst/>
            </a:prstGeom>
            <a:no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sz="1600" dirty="0">
                  <a:solidFill>
                    <a:schemeClr val="bg1"/>
                  </a:solidFill>
                  <a:latin typeface="Times New Roman" pitchFamily="18" charset="0"/>
                </a:rPr>
                <a:t>Mora et al., </a:t>
              </a:r>
              <a:r>
                <a:rPr lang="en-US" sz="1600" dirty="0" err="1">
                  <a:solidFill>
                    <a:schemeClr val="bg1"/>
                  </a:solidFill>
                  <a:latin typeface="Times New Roman" pitchFamily="18" charset="0"/>
                </a:rPr>
                <a:t>PlosBiology</a:t>
              </a:r>
              <a:r>
                <a:rPr lang="en-US" sz="1600" dirty="0">
                  <a:solidFill>
                    <a:schemeClr val="bg1"/>
                  </a:solidFill>
                  <a:latin typeface="Times New Roman" pitchFamily="18" charset="0"/>
                </a:rPr>
                <a:t> 2011</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Text Box 4"/>
          <p:cNvSpPr txBox="1">
            <a:spLocks noChangeArrowheads="1"/>
          </p:cNvSpPr>
          <p:nvPr/>
        </p:nvSpPr>
        <p:spPr bwMode="auto">
          <a:xfrm>
            <a:off x="3200400" y="685800"/>
            <a:ext cx="4572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a:t>Hundreds not to say thousands of resources are already available</a:t>
            </a:r>
            <a:endParaRPr lang="es-ES"/>
          </a:p>
        </p:txBody>
      </p:sp>
      <p:grpSp>
        <p:nvGrpSpPr>
          <p:cNvPr id="5123" name="Group 12"/>
          <p:cNvGrpSpPr>
            <a:grpSpLocks/>
          </p:cNvGrpSpPr>
          <p:nvPr/>
        </p:nvGrpSpPr>
        <p:grpSpPr bwMode="auto">
          <a:xfrm>
            <a:off x="0" y="685800"/>
            <a:ext cx="2139950" cy="2111375"/>
            <a:chOff x="379" y="1584"/>
            <a:chExt cx="1348" cy="1330"/>
          </a:xfrm>
        </p:grpSpPr>
        <p:sp>
          <p:nvSpPr>
            <p:cNvPr id="5138" name="Text Box 5"/>
            <p:cNvSpPr txBox="1">
              <a:spLocks noChangeArrowheads="1"/>
            </p:cNvSpPr>
            <p:nvPr/>
          </p:nvSpPr>
          <p:spPr bwMode="auto">
            <a:xfrm>
              <a:off x="528" y="1584"/>
              <a:ext cx="100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sz="2400">
                  <a:latin typeface="Times New Roman" pitchFamily="18" charset="0"/>
                </a:rPr>
                <a:t>Obtain data</a:t>
              </a:r>
            </a:p>
          </p:txBody>
        </p:sp>
        <p:grpSp>
          <p:nvGrpSpPr>
            <p:cNvPr id="5139" name="Group 6"/>
            <p:cNvGrpSpPr>
              <a:grpSpLocks/>
            </p:cNvGrpSpPr>
            <p:nvPr/>
          </p:nvGrpSpPr>
          <p:grpSpPr bwMode="auto">
            <a:xfrm>
              <a:off x="506" y="1828"/>
              <a:ext cx="1124" cy="561"/>
              <a:chOff x="1693" y="2776"/>
              <a:chExt cx="1124" cy="561"/>
            </a:xfrm>
          </p:grpSpPr>
          <p:sp>
            <p:nvSpPr>
              <p:cNvPr id="5143" name="Text Box 7"/>
              <p:cNvSpPr txBox="1">
                <a:spLocks noChangeArrowheads="1"/>
              </p:cNvSpPr>
              <p:nvPr/>
            </p:nvSpPr>
            <p:spPr bwMode="auto">
              <a:xfrm>
                <a:off x="1693" y="3049"/>
                <a:ext cx="11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sz="2400">
                    <a:latin typeface="Times New Roman" pitchFamily="18" charset="0"/>
                  </a:rPr>
                  <a:t>Build pattern</a:t>
                </a:r>
              </a:p>
            </p:txBody>
          </p:sp>
          <p:sp>
            <p:nvSpPr>
              <p:cNvPr id="5144" name="Line 8"/>
              <p:cNvSpPr>
                <a:spLocks noChangeShapeType="1"/>
              </p:cNvSpPr>
              <p:nvPr/>
            </p:nvSpPr>
            <p:spPr bwMode="auto">
              <a:xfrm>
                <a:off x="2192" y="2776"/>
                <a:ext cx="0" cy="304"/>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grpSp>
        <p:grpSp>
          <p:nvGrpSpPr>
            <p:cNvPr id="5140" name="Group 9"/>
            <p:cNvGrpSpPr>
              <a:grpSpLocks/>
            </p:cNvGrpSpPr>
            <p:nvPr/>
          </p:nvGrpSpPr>
          <p:grpSpPr bwMode="auto">
            <a:xfrm>
              <a:off x="379" y="2388"/>
              <a:ext cx="1348" cy="526"/>
              <a:chOff x="1566" y="3336"/>
              <a:chExt cx="1348" cy="526"/>
            </a:xfrm>
          </p:grpSpPr>
          <p:sp>
            <p:nvSpPr>
              <p:cNvPr id="5141" name="Text Box 10"/>
              <p:cNvSpPr txBox="1">
                <a:spLocks noChangeArrowheads="1"/>
              </p:cNvSpPr>
              <p:nvPr/>
            </p:nvSpPr>
            <p:spPr bwMode="auto">
              <a:xfrm>
                <a:off x="1566" y="3574"/>
                <a:ext cx="134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sz="2400">
                    <a:latin typeface="Times New Roman" pitchFamily="18" charset="0"/>
                  </a:rPr>
                  <a:t>Test hypotheses</a:t>
                </a:r>
              </a:p>
            </p:txBody>
          </p:sp>
          <p:sp>
            <p:nvSpPr>
              <p:cNvPr id="5142" name="Line 11"/>
              <p:cNvSpPr>
                <a:spLocks noChangeShapeType="1"/>
              </p:cNvSpPr>
              <p:nvPr/>
            </p:nvSpPr>
            <p:spPr bwMode="auto">
              <a:xfrm>
                <a:off x="2200" y="3336"/>
                <a:ext cx="0" cy="304"/>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grpSp>
      </p:grpSp>
      <p:pic>
        <p:nvPicPr>
          <p:cNvPr id="7183" name="Picture 15" descr="Temp"/>
          <p:cNvPicPr preferRelativeResize="0">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22725" y="1400175"/>
            <a:ext cx="2741613" cy="1371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7185" name="Picture 17" descr="world1"/>
          <p:cNvPicPr preferRelativeResize="0">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67200" y="1600200"/>
            <a:ext cx="2741613" cy="1371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7186" name="Picture 18"/>
          <p:cNvPicPr preferRelativeResize="0">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495800" y="1828800"/>
            <a:ext cx="2741613" cy="1371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7187" name="Picture 19" descr="earth_night"/>
          <p:cNvPicPr preferRelativeResize="0">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24400" y="2057400"/>
            <a:ext cx="2741613" cy="1371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grpSp>
        <p:nvGrpSpPr>
          <p:cNvPr id="7197" name="Group 29"/>
          <p:cNvGrpSpPr>
            <a:grpSpLocks/>
          </p:cNvGrpSpPr>
          <p:nvPr/>
        </p:nvGrpSpPr>
        <p:grpSpPr bwMode="auto">
          <a:xfrm>
            <a:off x="1828800" y="990600"/>
            <a:ext cx="1828800" cy="685800"/>
            <a:chOff x="1152" y="432"/>
            <a:chExt cx="1152" cy="432"/>
          </a:xfrm>
        </p:grpSpPr>
        <p:sp>
          <p:nvSpPr>
            <p:cNvPr id="5136" name="Line 13"/>
            <p:cNvSpPr>
              <a:spLocks noChangeShapeType="1"/>
            </p:cNvSpPr>
            <p:nvPr/>
          </p:nvSpPr>
          <p:spPr bwMode="auto">
            <a:xfrm>
              <a:off x="1200" y="432"/>
              <a:ext cx="1104" cy="0"/>
            </a:xfrm>
            <a:prstGeom prst="line">
              <a:avLst/>
            </a:prstGeom>
            <a:noFill/>
            <a:ln w="57150" cap="rnd">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5137" name="Freeform 22"/>
            <p:cNvSpPr>
              <a:spLocks/>
            </p:cNvSpPr>
            <p:nvPr/>
          </p:nvSpPr>
          <p:spPr bwMode="auto">
            <a:xfrm>
              <a:off x="1152" y="432"/>
              <a:ext cx="1056" cy="432"/>
            </a:xfrm>
            <a:custGeom>
              <a:avLst/>
              <a:gdLst>
                <a:gd name="T0" fmla="*/ 0 w 864"/>
                <a:gd name="T1" fmla="*/ 432 h 480"/>
                <a:gd name="T2" fmla="*/ 264 w 864"/>
                <a:gd name="T3" fmla="*/ 130 h 480"/>
                <a:gd name="T4" fmla="*/ 1056 w 864"/>
                <a:gd name="T5" fmla="*/ 0 h 480"/>
                <a:gd name="T6" fmla="*/ 0 60000 65536"/>
                <a:gd name="T7" fmla="*/ 0 60000 65536"/>
                <a:gd name="T8" fmla="*/ 0 60000 65536"/>
              </a:gdLst>
              <a:ahLst/>
              <a:cxnLst>
                <a:cxn ang="T6">
                  <a:pos x="T0" y="T1"/>
                </a:cxn>
                <a:cxn ang="T7">
                  <a:pos x="T2" y="T3"/>
                </a:cxn>
                <a:cxn ang="T8">
                  <a:pos x="T4" y="T5"/>
                </a:cxn>
              </a:cxnLst>
              <a:rect l="0" t="0" r="r" b="b"/>
              <a:pathLst>
                <a:path w="864" h="480">
                  <a:moveTo>
                    <a:pt x="0" y="480"/>
                  </a:moveTo>
                  <a:cubicBezTo>
                    <a:pt x="36" y="424"/>
                    <a:pt x="72" y="224"/>
                    <a:pt x="216" y="144"/>
                  </a:cubicBezTo>
                  <a:cubicBezTo>
                    <a:pt x="360" y="64"/>
                    <a:pt x="729" y="30"/>
                    <a:pt x="864" y="0"/>
                  </a:cubicBezTo>
                </a:path>
              </a:pathLst>
            </a:custGeom>
            <a:noFill/>
            <a:ln w="57150" cap="rnd" cmpd="sng">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grpSp>
      <p:sp>
        <p:nvSpPr>
          <p:cNvPr id="7193" name="Text Box 25"/>
          <p:cNvSpPr txBox="1">
            <a:spLocks noChangeArrowheads="1"/>
          </p:cNvSpPr>
          <p:nvPr/>
        </p:nvSpPr>
        <p:spPr bwMode="auto">
          <a:xfrm>
            <a:off x="3429000" y="4267200"/>
            <a:ext cx="2063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t>So what is needed</a:t>
            </a:r>
            <a:endParaRPr lang="es-ES"/>
          </a:p>
        </p:txBody>
      </p:sp>
      <p:sp>
        <p:nvSpPr>
          <p:cNvPr id="7194" name="Text Box 26"/>
          <p:cNvSpPr txBox="1">
            <a:spLocks noChangeArrowheads="1"/>
          </p:cNvSpPr>
          <p:nvPr/>
        </p:nvSpPr>
        <p:spPr bwMode="auto">
          <a:xfrm>
            <a:off x="1752600" y="4800600"/>
            <a:ext cx="5289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t>1) Novel ideas on what to do with these databases</a:t>
            </a:r>
            <a:endParaRPr lang="es-ES"/>
          </a:p>
        </p:txBody>
      </p:sp>
      <p:pic>
        <p:nvPicPr>
          <p:cNvPr id="7199" name="Picture 31"/>
          <p:cNvPicPr preferRelativeResize="0">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53000" y="2286000"/>
            <a:ext cx="2741613" cy="1371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7201" name="Picture 33"/>
          <p:cNvPicPr preferRelativeResize="0">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181600" y="2514600"/>
            <a:ext cx="2741613" cy="1371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7188" name="Picture 20"/>
          <p:cNvPicPr preferRelativeResize="0">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86400" y="2819400"/>
            <a:ext cx="2741613" cy="1371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25" name="TextBox 24"/>
          <p:cNvSpPr txBox="1"/>
          <p:nvPr/>
        </p:nvSpPr>
        <p:spPr>
          <a:xfrm>
            <a:off x="1" y="17362"/>
            <a:ext cx="9143999" cy="369332"/>
          </a:xfrm>
          <a:prstGeom prst="rect">
            <a:avLst/>
          </a:prstGeom>
          <a:solidFill>
            <a:schemeClr val="bg1">
              <a:lumMod val="85000"/>
            </a:schemeClr>
          </a:solidFill>
        </p:spPr>
        <p:txBody>
          <a:bodyPr wrap="square" rtlCol="0">
            <a:spAutoFit/>
          </a:bodyPr>
          <a:lstStyle/>
          <a:p>
            <a:pPr algn="ctr"/>
            <a:r>
              <a:rPr lang="en-US" dirty="0"/>
              <a:t>…and the possibilities are endless…</a:t>
            </a:r>
            <a:endParaRPr lang="en-CA"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197"/>
                                        </p:tgtEl>
                                        <p:attrNameLst>
                                          <p:attrName>style.visibility</p:attrName>
                                        </p:attrNameLst>
                                      </p:cBhvr>
                                      <p:to>
                                        <p:strVal val="visible"/>
                                      </p:to>
                                    </p:set>
                                    <p:animEffect transition="in" filter="wipe(left)">
                                      <p:cBhvr>
                                        <p:cTn id="7" dur="500"/>
                                        <p:tgtEl>
                                          <p:spTgt spid="7197"/>
                                        </p:tgtEl>
                                      </p:cBhvr>
                                    </p:animEffect>
                                  </p:childTnLst>
                                </p:cTn>
                              </p:par>
                            </p:childTnLst>
                          </p:cTn>
                        </p:par>
                        <p:par>
                          <p:cTn id="8" fill="hold" nodeType="afterGroup">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717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18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718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7186"/>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7187"/>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7199"/>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7201"/>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7188"/>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193"/>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1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2" grpId="0"/>
      <p:bldP spid="7193" grpId="0"/>
      <p:bldP spid="7194" grpId="0"/>
    </p:bld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396</TotalTime>
  <Words>1397</Words>
  <Application>Microsoft Office PowerPoint</Application>
  <PresentationFormat>On-screen Show (4:3)</PresentationFormat>
  <Paragraphs>140</Paragraphs>
  <Slides>14</Slides>
  <Notes>12</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14</vt:i4>
      </vt:variant>
    </vt:vector>
  </HeadingPairs>
  <TitlesOfParts>
    <vt:vector size="20" baseType="lpstr">
      <vt:lpstr>Arial</vt:lpstr>
      <vt:lpstr>Calibri</vt:lpstr>
      <vt:lpstr>Times New Roman</vt:lpstr>
      <vt:lpstr>Wingdings</vt:lpstr>
      <vt:lpstr>Default Design</vt:lpstr>
      <vt:lpstr>Bitmap Image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dc:creator>
  <cp:lastModifiedBy>Camilo</cp:lastModifiedBy>
  <cp:revision>65</cp:revision>
  <dcterms:created xsi:type="dcterms:W3CDTF">2008-11-07T23:05:20Z</dcterms:created>
  <dcterms:modified xsi:type="dcterms:W3CDTF">2024-03-25T21:22:50Z</dcterms:modified>
</cp:coreProperties>
</file>